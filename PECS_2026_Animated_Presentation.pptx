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7280" y="731520"/>
            <a:ext cx="4114800" cy="411480"/>
          </a:xfrm>
          <a:prstGeom prst="round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BAM 205 • MICE EVENT PROPOSAL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325880"/>
            <a:ext cx="10058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D4AF37"/>
                </a:solidFill>
                <a:latin typeface="Georgia"/>
              </a:defRPr>
            </a:pPr>
            <a:r>
              <a:t>PECS 2026</a:t>
            </a:r>
          </a:p>
          <a:p>
            <a:pPr>
              <a:spcBef>
                <a:spcPts val="500"/>
              </a:spcBef>
              <a:defRPr sz="2800" b="1">
                <a:solidFill>
                  <a:srgbClr val="FFFFFF"/>
                </a:solidFill>
                <a:latin typeface="Georgia"/>
              </a:defRPr>
            </a:pPr>
            <a:r>
              <a:t>Pangasinan Eco-Haven &amp; Culinary Showcase</a:t>
            </a:r>
          </a:p>
          <a:p>
            <a:pPr>
              <a:spcBef>
                <a:spcPts val="800"/>
              </a:spcBef>
              <a:defRPr sz="1500" i="1">
                <a:solidFill>
                  <a:srgbClr val="F3DE8A"/>
                </a:solidFill>
                <a:latin typeface="Georgia"/>
              </a:defRPr>
            </a:pPr>
            <a:r>
              <a:t>Regional Conference on Sustainable Tourism &amp; Heritage Culinary Innovation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3383280"/>
            <a:ext cx="9875520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97280" y="3657600"/>
            <a:ext cx="3108960" cy="1463040"/>
          </a:xfrm>
          <a:prstGeom prst="roundRect">
            <a:avLst/>
          </a:prstGeom>
          <a:solidFill>
            <a:srgbClr val="1B4332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3749039"/>
            <a:ext cx="2834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D4AF37"/>
                </a:solidFill>
                <a:latin typeface="Arial"/>
              </a:defRPr>
            </a:pPr>
            <a:r>
              <a:t>📅 DATE &amp; TIME</a:t>
            </a:r>
          </a:p>
          <a:p>
            <a:pPr>
              <a:spcBef>
                <a:spcPts val="400"/>
              </a:spcBef>
              <a:defRPr sz="1100">
                <a:solidFill>
                  <a:srgbClr val="F8F9FA"/>
                </a:solidFill>
                <a:latin typeface="Arial"/>
              </a:defRPr>
            </a:pPr>
            <a:r>
              <a:t>Thursday, September 17, 2026</a:t>
            </a:r>
            <a:br/>
            <a:r>
              <a:t>8:30 AM – 3:30 PM (7-Hour Program)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3657600"/>
            <a:ext cx="3108960" cy="1463040"/>
          </a:xfrm>
          <a:prstGeom prst="roundRect">
            <a:avLst/>
          </a:prstGeom>
          <a:solidFill>
            <a:srgbClr val="1B4332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3749039"/>
            <a:ext cx="2834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D4AF37"/>
                </a:solidFill>
                <a:latin typeface="Arial"/>
              </a:defRPr>
            </a:pPr>
            <a:r>
              <a:t>📍 VENUE</a:t>
            </a:r>
          </a:p>
          <a:p>
            <a:pPr>
              <a:spcBef>
                <a:spcPts val="400"/>
              </a:spcBef>
              <a:defRPr sz="1100">
                <a:solidFill>
                  <a:srgbClr val="F8F9FA"/>
                </a:solidFill>
                <a:latin typeface="Arial"/>
              </a:defRPr>
            </a:pPr>
            <a:r>
              <a:t>PHINMA-University of Pangasinan</a:t>
            </a:r>
            <a:br/>
            <a:r>
              <a:t>Gymnasium, Dagupan City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657600"/>
            <a:ext cx="3108960" cy="1463040"/>
          </a:xfrm>
          <a:prstGeom prst="roundRect">
            <a:avLst/>
          </a:prstGeom>
          <a:solidFill>
            <a:srgbClr val="1B4332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3749039"/>
            <a:ext cx="2834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D4AF37"/>
                </a:solidFill>
                <a:latin typeface="Arial"/>
              </a:defRPr>
            </a:pPr>
            <a:r>
              <a:t>👥 AUDIENCE</a:t>
            </a:r>
          </a:p>
          <a:p>
            <a:pPr>
              <a:spcBef>
                <a:spcPts val="400"/>
              </a:spcBef>
              <a:defRPr sz="1100">
                <a:solidFill>
                  <a:srgbClr val="F8F9FA"/>
                </a:solidFill>
                <a:latin typeface="Arial"/>
              </a:defRPr>
            </a:pPr>
            <a:r>
              <a:t>500+ Seated Delegates</a:t>
            </a:r>
            <a:br/>
            <a:r>
              <a:t>BSHM, BSTM, Faculty &amp; Leaders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48640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Georgia"/>
              </a:defRPr>
            </a:pPr>
            <a:r>
              <a:t>College of Hospitality and Tourism Management (CHTM)</a:t>
            </a:r>
          </a:p>
          <a:p>
            <a:pPr>
              <a:defRPr sz="1100">
                <a:solidFill>
                  <a:srgbClr val="5F6E64"/>
                </a:solidFill>
                <a:latin typeface="Arial"/>
              </a:defRPr>
            </a:pPr>
            <a:r>
              <a:t>PHINMA University of Pangasinan — Dagupan City, Pangasinan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4AF37"/>
                </a:solidFill>
                <a:latin typeface="Arial"/>
              </a:defRPr>
            </a:pPr>
            <a:r>
              <a:t>SECTION 1 &amp; 2 • EVENT IDENTITY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Georgia"/>
              </a:defRPr>
            </a:pPr>
            <a:r>
              <a:t>Executive Summary &amp; Event Classification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DCE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73952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F6E64"/>
                </a:solidFill>
                <a:latin typeface="Arial"/>
              </a:defRPr>
            </a:pPr>
            <a:r>
              <a:t>PHINMA University of Pangasinan • College of Hospitality and Tourism Management • BAM 205: MICE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371600"/>
            <a:ext cx="5120640" cy="50292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200">
                <a:solidFill>
                  <a:srgbClr val="D4AF37"/>
                </a:solidFill>
                <a:latin typeface="Arial"/>
              </a:defRPr>
            </a:pPr>
            <a:r>
              <a:t>EVENT ESSENTIALS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01168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1B4332"/>
                </a:solidFill>
                <a:latin typeface="Arial"/>
              </a:defRPr>
            </a:pPr>
            <a:r>
              <a:t>Full Event Title:</a:t>
            </a:r>
          </a:p>
          <a:p>
            <a:pPr>
              <a:defRPr sz="1100">
                <a:solidFill>
                  <a:srgbClr val="1E2923"/>
                </a:solidFill>
                <a:latin typeface="Arial"/>
              </a:defRPr>
            </a:pPr>
            <a:r>
              <a:t>PECS 2026: Pangasinan Eco-Haven &amp; Culinary Showcase</a:t>
            </a:r>
          </a:p>
          <a:p>
            <a:pPr>
              <a:spcBef>
                <a:spcPts val="800"/>
              </a:spcBef>
              <a:defRPr b="1" sz="1200">
                <a:solidFill>
                  <a:srgbClr val="1B4332"/>
                </a:solidFill>
                <a:latin typeface="Arial"/>
              </a:defRPr>
            </a:pPr>
            <a:r>
              <a:t>Official Subtitle:</a:t>
            </a:r>
          </a:p>
          <a:p>
            <a:pPr>
              <a:defRPr sz="1100">
                <a:solidFill>
                  <a:srgbClr val="1E2923"/>
                </a:solidFill>
                <a:latin typeface="Arial"/>
              </a:defRPr>
            </a:pPr>
            <a:r>
              <a:t>Regional Conference on Sustainable Tourism &amp; Heritage Culinary Innovation</a:t>
            </a:r>
          </a:p>
          <a:p>
            <a:pPr>
              <a:spcBef>
                <a:spcPts val="800"/>
              </a:spcBef>
              <a:defRPr b="1" sz="1200">
                <a:solidFill>
                  <a:srgbClr val="1B4332"/>
                </a:solidFill>
                <a:latin typeface="Arial"/>
              </a:defRPr>
            </a:pPr>
            <a:r>
              <a:t>Course Alignment:</a:t>
            </a:r>
          </a:p>
          <a:p>
            <a:pPr>
              <a:defRPr sz="1100">
                <a:solidFill>
                  <a:srgbClr val="1E2923"/>
                </a:solidFill>
                <a:latin typeface="Arial"/>
              </a:defRPr>
            </a:pPr>
            <a:r>
              <a:t>BAM 205: Meetings, Incentives, Conferences, and Exhibitions (MICE)</a:t>
            </a:r>
          </a:p>
          <a:p>
            <a:pPr>
              <a:spcBef>
                <a:spcPts val="800"/>
              </a:spcBef>
              <a:defRPr b="1" sz="1200">
                <a:solidFill>
                  <a:srgbClr val="1B4332"/>
                </a:solidFill>
                <a:latin typeface="Arial"/>
              </a:defRPr>
            </a:pPr>
            <a:r>
              <a:t>Academic Host:</a:t>
            </a:r>
          </a:p>
          <a:p>
            <a:pPr>
              <a:defRPr sz="1100">
                <a:solidFill>
                  <a:srgbClr val="1E2923"/>
                </a:solidFill>
                <a:latin typeface="Arial"/>
              </a:defRPr>
            </a:pPr>
            <a:r>
              <a:t>College of Hospitality and Tourism Management (CHTM), PHINMA University of Pangasinan</a:t>
            </a:r>
          </a:p>
          <a:p>
            <a:pPr>
              <a:spcBef>
                <a:spcPts val="800"/>
              </a:spcBef>
              <a:defRPr b="1" sz="1200">
                <a:solidFill>
                  <a:srgbClr val="1B4332"/>
                </a:solidFill>
                <a:latin typeface="Arial"/>
              </a:defRPr>
            </a:pPr>
            <a:r>
              <a:t>Event Classification:</a:t>
            </a:r>
          </a:p>
          <a:p>
            <a:pPr>
              <a:defRPr sz="1100">
                <a:solidFill>
                  <a:srgbClr val="1E2923"/>
                </a:solidFill>
                <a:latin typeface="Arial"/>
              </a:defRPr>
            </a:pPr>
            <a:r>
              <a:t>Academic &amp; Professional Conference (MICE Industry Standard)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37160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371600"/>
            <a:ext cx="5212080" cy="50292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200">
                <a:solidFill>
                  <a:srgbClr val="D4AF37"/>
                </a:solidFill>
                <a:latin typeface="Arial"/>
              </a:defRPr>
            </a:pPr>
            <a:r>
              <a:t>STRATEGIC PURPOSE &amp; VALUE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01168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2A9D8F"/>
                </a:solidFill>
                <a:latin typeface="Georgia"/>
              </a:defRPr>
            </a:pPr>
            <a:r>
              <a:t>🌿 Eco-Haven Focus</a:t>
            </a:r>
          </a:p>
          <a:p>
            <a:pPr>
              <a:spcBef>
                <a:spcPts val="300"/>
              </a:spcBef>
              <a:defRPr sz="1100">
                <a:solidFill>
                  <a:srgbClr val="1E2923"/>
                </a:solidFill>
                <a:latin typeface="Arial"/>
              </a:defRPr>
            </a:pPr>
            <a:r>
              <a:t>Addressing coastal environmental preservation, carrying capacity, and eco-tourism frameworks in Lingayen Gulf and Pangasinan municipalities.</a:t>
            </a:r>
          </a:p>
          <a:p>
            <a:pPr>
              <a:spcBef>
                <a:spcPts val="1200"/>
              </a:spcBef>
              <a:defRPr b="1" sz="1300">
                <a:solidFill>
                  <a:srgbClr val="2A9D8F"/>
                </a:solidFill>
                <a:latin typeface="Georgia"/>
              </a:defRPr>
            </a:pPr>
            <a:r>
              <a:t>🍲 Heritage Culinary Innovation</a:t>
            </a:r>
          </a:p>
          <a:p>
            <a:pPr>
              <a:spcBef>
                <a:spcPts val="300"/>
              </a:spcBef>
              <a:defRPr sz="1100">
                <a:solidFill>
                  <a:srgbClr val="1E2923"/>
                </a:solidFill>
                <a:latin typeface="Arial"/>
              </a:defRPr>
            </a:pPr>
            <a:r>
              <a:t>Safeguarding authentic regional gastronomic treasures (Bangus, Alaminos Longganisa, Kakanin) while integrating modern culinary and hospitality techniques.</a:t>
            </a:r>
          </a:p>
          <a:p>
            <a:pPr>
              <a:spcBef>
                <a:spcPts val="1200"/>
              </a:spcBef>
              <a:defRPr b="1" sz="1300">
                <a:solidFill>
                  <a:srgbClr val="2A9D8F"/>
                </a:solidFill>
                <a:latin typeface="Georgia"/>
              </a:defRPr>
            </a:pPr>
            <a:r>
              <a:t>🎓 Academic &amp; Industry Synergy</a:t>
            </a:r>
          </a:p>
          <a:p>
            <a:pPr>
              <a:spcBef>
                <a:spcPts val="300"/>
              </a:spcBef>
              <a:defRPr sz="1100">
                <a:solidFill>
                  <a:srgbClr val="1E2923"/>
                </a:solidFill>
                <a:latin typeface="Arial"/>
              </a:defRPr>
            </a:pPr>
            <a:r>
              <a:t>Bridging classroom theoretical knowledge with live industry insights, research presentations, and municipal tourism governance.</a:t>
            </a:r>
          </a:p>
        </p:txBody>
      </p:sp>
    </p:spTree>
  </p:cSld>
  <p:clrMapOvr>
    <a:masterClrMapping/>
  </p:clrMapOvr>
  <p:transition spd="fast">
    <p:push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4AF37"/>
                </a:solidFill>
                <a:latin typeface="Arial"/>
              </a:defRPr>
            </a:pPr>
            <a:r>
              <a:t>SECTION 3 • VISION &amp; DIRECTION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Georgia"/>
              </a:defRPr>
            </a:pPr>
            <a:r>
              <a:t>Theme &amp; Conference Concept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DCE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73952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F6E64"/>
                </a:solidFill>
                <a:latin typeface="Arial"/>
              </a:defRPr>
            </a:pPr>
            <a:r>
              <a:t>PHINMA University of Pangasinan • College of Hospitality and Tourism Management • BAM 205: MICE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325880"/>
            <a:ext cx="10728655" cy="1188720"/>
          </a:xfrm>
          <a:prstGeom prst="roundRect">
            <a:avLst/>
          </a:prstGeom>
          <a:solidFill>
            <a:srgbClr val="1B4332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D4AF37"/>
                </a:solidFill>
                <a:latin typeface="Arial"/>
              </a:defRPr>
            </a:pPr>
            <a:r>
              <a:t>OFFICIAL CONFERENCE THEME</a:t>
            </a:r>
          </a:p>
          <a:p>
            <a:pPr>
              <a:spcBef>
                <a:spcPts val="300"/>
              </a:spcBef>
              <a:defRPr b="1" sz="1500">
                <a:solidFill>
                  <a:srgbClr val="FFFFFF"/>
                </a:solidFill>
                <a:latin typeface="Georgia"/>
              </a:defRPr>
            </a:pPr>
            <a:r>
              <a:t>“Sustaining the Coastline: Strategies for Eco-Tourism Development and Heritage Culinary Preservation in Pangasinan”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697480"/>
            <a:ext cx="3413455" cy="3520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20" y="2697480"/>
            <a:ext cx="3413455" cy="548640"/>
          </a:xfrm>
          <a:prstGeom prst="round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FFFFFF"/>
                </a:solidFill>
                <a:latin typeface="Arial"/>
              </a:defRPr>
            </a:pPr>
            <a:r>
              <a:t>01. PLENARY KEYNOTES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83280"/>
            <a:ext cx="3047695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B4332"/>
                </a:solidFill>
                <a:latin typeface="Georgia"/>
              </a:defRPr>
            </a:pPr>
            <a:r>
              <a:t>Expert Dialogues</a:t>
            </a:r>
          </a:p>
          <a:p>
            <a:pPr>
              <a:spcBef>
                <a:spcPts val="800"/>
              </a:spcBef>
              <a:defRPr sz="1100">
                <a:solidFill>
                  <a:srgbClr val="1E2923"/>
                </a:solidFill>
                <a:latin typeface="Arial"/>
              </a:defRPr>
            </a:pPr>
            <a:r>
              <a:t>Gathering municipal tourism officers, resort general managers, and local culinary historians to present frameworks on coastal carrying capacity and indigenous gastronomic preservation.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2697480"/>
            <a:ext cx="3413455" cy="3520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89120" y="2697480"/>
            <a:ext cx="3413455" cy="548640"/>
          </a:xfrm>
          <a:prstGeom prst="round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FFFFFF"/>
                </a:solidFill>
                <a:latin typeface="Arial"/>
              </a:defRPr>
            </a:pPr>
            <a:r>
              <a:t>02. RESEARCH COLLOQUIUM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383280"/>
            <a:ext cx="3047695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B4332"/>
                </a:solidFill>
                <a:latin typeface="Georgia"/>
              </a:defRPr>
            </a:pPr>
            <a:r>
              <a:t>Student Innovation</a:t>
            </a:r>
          </a:p>
          <a:p>
            <a:pPr>
              <a:spcBef>
                <a:spcPts val="800"/>
              </a:spcBef>
              <a:defRPr sz="1100">
                <a:solidFill>
                  <a:srgbClr val="1E2923"/>
                </a:solidFill>
                <a:latin typeface="Arial"/>
              </a:defRPr>
            </a:pPr>
            <a:r>
              <a:t>Oral presentations of 4 shortlisted student research papers addressing empirical resort models, community eco-tourism, and sustainable heritage practices.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2697480"/>
            <a:ext cx="3413455" cy="3520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46720" y="2697480"/>
            <a:ext cx="3413455" cy="548640"/>
          </a:xfrm>
          <a:prstGeom prst="round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FFFFFF"/>
                </a:solidFill>
                <a:latin typeface="Arial"/>
              </a:defRPr>
            </a:pPr>
            <a:r>
              <a:t>03. MULTI-STAKEHOLDER Q&amp;A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383280"/>
            <a:ext cx="3047695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B4332"/>
                </a:solidFill>
                <a:latin typeface="Georgia"/>
              </a:defRPr>
            </a:pPr>
            <a:r>
              <a:t>Open Academic Forum</a:t>
            </a:r>
          </a:p>
          <a:p>
            <a:pPr>
              <a:spcBef>
                <a:spcPts val="800"/>
              </a:spcBef>
              <a:defRPr sz="1100">
                <a:solidFill>
                  <a:srgbClr val="1E2923"/>
                </a:solidFill>
                <a:latin typeface="Arial"/>
              </a:defRPr>
            </a:pPr>
            <a:r>
              <a:t>Direct interactive floor microphone sessions bridging BSHM/BSTM students with practitioners, fostering active inquiry and policy recommendations.</a:t>
            </a:r>
          </a:p>
        </p:txBody>
      </p:sp>
    </p:spTree>
  </p:cSld>
  <p:clrMapOvr>
    <a:masterClrMapping/>
  </p:clrMapOvr>
  <p:transition spd="fast">
    <p:push dir="r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4AF37"/>
                </a:solidFill>
                <a:latin typeface="Arial"/>
              </a:defRPr>
            </a:pPr>
            <a:r>
              <a:t>SECTION 4 • DELEGATE &amp; SPEAKER SEGMENTATION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Georgia"/>
              </a:defRPr>
            </a:pPr>
            <a:r>
              <a:t>Target Audience &amp; Stakeholder Profile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DCE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73952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F6E64"/>
                </a:solidFill>
                <a:latin typeface="Arial"/>
              </a:defRPr>
            </a:pPr>
            <a:r>
              <a:t>PHINMA University of Pangasinan • College of Hospitality and Tourism Management • BAM 205: MICE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371600"/>
            <a:ext cx="516636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371600"/>
            <a:ext cx="5166360" cy="54864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200">
                <a:solidFill>
                  <a:srgbClr val="D4AF37"/>
                </a:solidFill>
                <a:latin typeface="Arial"/>
              </a:defRPr>
            </a:pPr>
            <a:r>
              <a:t>PRIMARY AUDIENCE — DELEGATES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057400"/>
            <a:ext cx="4709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1B4332"/>
                </a:solidFill>
                <a:latin typeface="Arial"/>
              </a:defRPr>
            </a:pPr>
            <a:r>
              <a:t>👤 Delegate Profile:</a:t>
            </a:r>
          </a:p>
          <a:p>
            <a:pPr>
              <a:spcBef>
                <a:spcPts val="200"/>
              </a:spcBef>
              <a:defRPr sz="1100">
                <a:solidFill>
                  <a:srgbClr val="1E2923"/>
                </a:solidFill>
                <a:latin typeface="Arial"/>
              </a:defRPr>
            </a:pPr>
            <a:r>
              <a:t>Undergraduate BSHM (Hospitality) and BSTM (Tourism) students, student researchers, and CHTM academic faculty.</a:t>
            </a:r>
          </a:p>
          <a:p>
            <a:pPr>
              <a:spcBef>
                <a:spcPts val="1000"/>
              </a:spcBef>
              <a:defRPr b="1" sz="1200">
                <a:solidFill>
                  <a:srgbClr val="1B4332"/>
                </a:solidFill>
                <a:latin typeface="Arial"/>
              </a:defRPr>
            </a:pPr>
            <a:r>
              <a:t>📊 Capacity &amp; Volume:</a:t>
            </a:r>
          </a:p>
          <a:p>
            <a:pPr>
              <a:spcBef>
                <a:spcPts val="200"/>
              </a:spcBef>
              <a:defRPr sz="1100">
                <a:solidFill>
                  <a:srgbClr val="1E2923"/>
                </a:solidFill>
                <a:latin typeface="Arial"/>
              </a:defRPr>
            </a:pPr>
            <a:r>
              <a:t>500+ Seated Delegates inside the UPang Gymnasium main floor.</a:t>
            </a:r>
          </a:p>
          <a:p>
            <a:pPr>
              <a:spcBef>
                <a:spcPts val="1000"/>
              </a:spcBef>
              <a:defRPr b="1" sz="1200">
                <a:solidFill>
                  <a:srgbClr val="1B4332"/>
                </a:solidFill>
                <a:latin typeface="Arial"/>
              </a:defRPr>
            </a:pPr>
            <a:r>
              <a:t>🎯 Critical Needs &amp; Expectations:</a:t>
            </a:r>
          </a:p>
          <a:p>
            <a:pPr>
              <a:spcBef>
                <a:spcPts val="200"/>
              </a:spcBef>
              <a:defRPr sz="1100">
                <a:solidFill>
                  <a:srgbClr val="1E2923"/>
                </a:solidFill>
                <a:latin typeface="Arial"/>
              </a:defRPr>
            </a:pPr>
            <a:r>
              <a:t>• Practical industry insights beyond textbooks</a:t>
            </a:r>
            <a:br/>
            <a:r>
              <a:t>• Peer research validation &amp; academic exchange</a:t>
            </a:r>
            <a:br/>
            <a:r>
              <a:t>• Professional networking opportunities</a:t>
            </a:r>
            <a:br/>
            <a:r>
              <a:t>• Complete conference kits (ID badge, notepad, program, bag, e-certificate)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1072" y="1371600"/>
            <a:ext cx="516636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91072" y="1371600"/>
            <a:ext cx="5166360" cy="54864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200">
                <a:solidFill>
                  <a:srgbClr val="FFFFFF"/>
                </a:solidFill>
                <a:latin typeface="Arial"/>
              </a:defRPr>
            </a:pPr>
            <a:r>
              <a:t>SECONDARY AUDIENCE — VIPs &amp; SPEAKERS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9672" y="2057400"/>
            <a:ext cx="4709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1B4332"/>
                </a:solidFill>
                <a:latin typeface="Arial"/>
              </a:defRPr>
            </a:pPr>
            <a:r>
              <a:t>🎖️ VIP &amp; Speaker Profile:</a:t>
            </a:r>
          </a:p>
          <a:p>
            <a:pPr>
              <a:spcBef>
                <a:spcPts val="200"/>
              </a:spcBef>
              <a:defRPr sz="1100">
                <a:solidFill>
                  <a:srgbClr val="1E2923"/>
                </a:solidFill>
                <a:latin typeface="Arial"/>
              </a:defRPr>
            </a:pPr>
            <a:r>
              <a:t>Municipal Tourism Officers (MTOs), Resort General Managers, Local Culinary Historians, and Senior Faculty Reactors.</a:t>
            </a:r>
          </a:p>
          <a:p>
            <a:pPr>
              <a:spcBef>
                <a:spcPts val="1000"/>
              </a:spcBef>
              <a:defRPr b="1" sz="1200">
                <a:solidFill>
                  <a:srgbClr val="1B4332"/>
                </a:solidFill>
                <a:latin typeface="Arial"/>
              </a:defRPr>
            </a:pPr>
            <a:r>
              <a:t>📊 Capacity &amp; Volume:</a:t>
            </a:r>
          </a:p>
          <a:p>
            <a:pPr>
              <a:spcBef>
                <a:spcPts val="200"/>
              </a:spcBef>
              <a:defRPr sz="1100">
                <a:solidFill>
                  <a:srgbClr val="1E2923"/>
                </a:solidFill>
                <a:latin typeface="Arial"/>
              </a:defRPr>
            </a:pPr>
            <a:r>
              <a:t>8–10 Invited Plenary Keynote Speakers, Panelists, and Reactors.</a:t>
            </a:r>
          </a:p>
          <a:p>
            <a:pPr>
              <a:spcBef>
                <a:spcPts val="1000"/>
              </a:spcBef>
              <a:defRPr b="1" sz="1200">
                <a:solidFill>
                  <a:srgbClr val="1B4332"/>
                </a:solidFill>
                <a:latin typeface="Arial"/>
              </a:defRPr>
            </a:pPr>
            <a:r>
              <a:t>🎯 Critical Needs &amp; Expectations:</a:t>
            </a:r>
          </a:p>
          <a:p>
            <a:pPr>
              <a:spcBef>
                <a:spcPts val="200"/>
              </a:spcBef>
              <a:defRPr sz="1100">
                <a:solidFill>
                  <a:srgbClr val="1E2923"/>
                </a:solidFill>
                <a:latin typeface="Arial"/>
              </a:defRPr>
            </a:pPr>
            <a:r>
              <a:t>• Strict program pacing and structured timing</a:t>
            </a:r>
            <a:br/>
            <a:r>
              <a:t>• Clear stage AV, roving wireless mics, and confidence monitors</a:t>
            </a:r>
            <a:br/>
            <a:r>
              <a:t>• Dedicated VIP holding lounge with private plated catering</a:t>
            </a:r>
            <a:br/>
            <a:r>
              <a:t>• Formal honoraria, local tokens of appreciation, and plaques</a:t>
            </a:r>
          </a:p>
        </p:txBody>
      </p:sp>
    </p:spTree>
  </p:cSld>
  <p:clrMapOvr>
    <a:masterClrMapping/>
  </p:clrMapOvr>
  <p:transition spd="fast">
    <p:push dir="r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4AF37"/>
                </a:solidFill>
                <a:latin typeface="Arial"/>
              </a:defRPr>
            </a:pPr>
            <a:r>
              <a:t>SECTION 5 • MEASURABLE GOALS &amp; OUTCOMES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Georgia"/>
              </a:defRPr>
            </a:pPr>
            <a:r>
              <a:t>SMART Event Objectives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DCE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73952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F6E64"/>
                </a:solidFill>
                <a:latin typeface="Arial"/>
              </a:defRPr>
            </a:pPr>
            <a:r>
              <a:t>PHINMA University of Pangasinan • College of Hospitality and Tourism Management • BAM 205: MICE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325880"/>
            <a:ext cx="10728655" cy="8778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417320"/>
            <a:ext cx="694944" cy="694944"/>
          </a:xfrm>
          <a:prstGeom prst="round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2200">
                <a:solidFill>
                  <a:srgbClr val="D4AF37"/>
                </a:solidFill>
                <a:latin typeface="Georgia"/>
              </a:defRPr>
            </a:pPr>
            <a:r>
              <a:t>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399032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1B4332"/>
                </a:solidFill>
                <a:latin typeface="Arial"/>
              </a:defRPr>
            </a:pPr>
            <a:r>
              <a:t>SPECIFIC</a:t>
            </a:r>
          </a:p>
          <a:p>
            <a:pPr>
              <a:spcBef>
                <a:spcPts val="200"/>
              </a:spcBef>
              <a:defRPr sz="1050">
                <a:solidFill>
                  <a:srgbClr val="1E2923"/>
                </a:solidFill>
                <a:latin typeface="Arial"/>
              </a:defRPr>
            </a:pPr>
            <a:r>
              <a:t>Host a regional academic conference featuring 3 keynote sessions and 4 student research panel presentations on Pangasinan tourism development and culinary heritage.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313432"/>
            <a:ext cx="10728655" cy="8778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68680" y="2404872"/>
            <a:ext cx="694944" cy="694944"/>
          </a:xfrm>
          <a:prstGeom prst="round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2200">
                <a:solidFill>
                  <a:srgbClr val="FFFFFF"/>
                </a:solidFill>
                <a:latin typeface="Georgia"/>
              </a:defRPr>
            </a:pPr>
            <a:r>
              <a:t>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2386584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1B4332"/>
                </a:solidFill>
                <a:latin typeface="Arial"/>
              </a:defRPr>
            </a:pPr>
            <a:r>
              <a:t>MEASURABLE</a:t>
            </a:r>
          </a:p>
          <a:p>
            <a:pPr>
              <a:spcBef>
                <a:spcPts val="200"/>
              </a:spcBef>
              <a:defRPr sz="1050">
                <a:solidFill>
                  <a:srgbClr val="1E2923"/>
                </a:solidFill>
                <a:latin typeface="Arial"/>
              </a:defRPr>
            </a:pPr>
            <a:r>
              <a:t>Achieve attendance of at least 500 registered delegates and collect completed session feedback forms from at least 90% of attendees.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300984"/>
            <a:ext cx="10728655" cy="8778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68680" y="3392424"/>
            <a:ext cx="694944" cy="694944"/>
          </a:xfrm>
          <a:prstGeom prst="round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2200">
                <a:solidFill>
                  <a:srgbClr val="D4AF37"/>
                </a:solidFill>
                <a:latin typeface="Georgia"/>
              </a:defRPr>
            </a:pPr>
            <a:r>
              <a:t>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3374136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1B4332"/>
                </a:solidFill>
                <a:latin typeface="Arial"/>
              </a:defRPr>
            </a:pPr>
            <a:r>
              <a:t>ACHIEVABLE</a:t>
            </a:r>
          </a:p>
          <a:p>
            <a:pPr>
              <a:spcBef>
                <a:spcPts val="200"/>
              </a:spcBef>
              <a:defRPr sz="1050">
                <a:solidFill>
                  <a:srgbClr val="1E2923"/>
                </a:solidFill>
                <a:latin typeface="Arial"/>
              </a:defRPr>
            </a:pPr>
            <a:r>
              <a:t>Secure regional tourism officials and faculty experts as session speakers and panel reactors using the university's central facility.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288536"/>
            <a:ext cx="10728655" cy="8778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68680" y="4379976"/>
            <a:ext cx="694944" cy="694944"/>
          </a:xfrm>
          <a:prstGeom prst="round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2200">
                <a:solidFill>
                  <a:srgbClr val="FFFFFF"/>
                </a:solidFill>
                <a:latin typeface="Georgia"/>
              </a:defRPr>
            </a:pPr>
            <a:r>
              <a:t>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361688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1B4332"/>
                </a:solidFill>
                <a:latin typeface="Arial"/>
              </a:defRPr>
            </a:pPr>
            <a:r>
              <a:t>RELEVANT</a:t>
            </a:r>
          </a:p>
          <a:p>
            <a:pPr>
              <a:spcBef>
                <a:spcPts val="200"/>
              </a:spcBef>
              <a:defRPr sz="1050">
                <a:solidFill>
                  <a:srgbClr val="1E2923"/>
                </a:solidFill>
                <a:latin typeface="Arial"/>
              </a:defRPr>
            </a:pPr>
            <a:r>
              <a:t>Fulfill BAM 205 conference management competencies including large-scale program structuring, speaker management, main-stage AV logistics, and delegate registration.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276088"/>
            <a:ext cx="10728655" cy="8778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68680" y="5367528"/>
            <a:ext cx="694944" cy="694944"/>
          </a:xfrm>
          <a:prstGeom prst="round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2200">
                <a:solidFill>
                  <a:srgbClr val="D4AF37"/>
                </a:solidFill>
                <a:latin typeface="Georgia"/>
              </a:defRPr>
            </a:pPr>
            <a:r>
              <a:t>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91640" y="534924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1B4332"/>
                </a:solidFill>
                <a:latin typeface="Arial"/>
              </a:defRPr>
            </a:pPr>
            <a:r>
              <a:t>TIME-BOUND</a:t>
            </a:r>
          </a:p>
          <a:p>
            <a:pPr>
              <a:spcBef>
                <a:spcPts val="200"/>
              </a:spcBef>
              <a:defRPr sz="1050">
                <a:solidFill>
                  <a:srgbClr val="1E2923"/>
                </a:solidFill>
                <a:latin typeface="Arial"/>
              </a:defRPr>
            </a:pPr>
            <a:r>
              <a:t>Execute the complete plenary schedule, panel sessions, open forum, and awarding ceremony within a 7-hour operational timeframe on September 17, 2026.</a:t>
            </a:r>
          </a:p>
        </p:txBody>
      </p:sp>
    </p:spTree>
  </p:cSld>
  <p:clrMapOvr>
    <a:masterClrMapping/>
  </p:clrMapOvr>
  <p:transition spd="med">
    <p:wipe dir="r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4AF37"/>
                </a:solidFill>
                <a:latin typeface="Arial"/>
              </a:defRPr>
            </a:pPr>
            <a:r>
              <a:t>SECTION 6 • EVENT TIMING &amp; LOCATION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Georgia"/>
              </a:defRPr>
            </a:pPr>
            <a:r>
              <a:t>Date, Venue &amp; Facilities Analysis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DCE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73952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F6E64"/>
                </a:solidFill>
                <a:latin typeface="Arial"/>
              </a:defRPr>
            </a:pPr>
            <a:r>
              <a:t>PHINMA University of Pangasinan • College of Hospitality and Tourism Management • BAM 205: MICE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371600"/>
            <a:ext cx="41148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371600"/>
            <a:ext cx="4114800" cy="54864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200">
                <a:solidFill>
                  <a:srgbClr val="D4AF37"/>
                </a:solidFill>
                <a:latin typeface="Arial"/>
              </a:defRPr>
            </a:pPr>
            <a:r>
              <a:t>EVENT LOGISTICS SNAPSHOT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057400"/>
            <a:ext cx="3749039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1B4332"/>
                </a:solidFill>
                <a:latin typeface="Arial"/>
              </a:defRPr>
            </a:pPr>
            <a:r>
              <a:t>🗓️ Proposed Date:</a:t>
            </a:r>
          </a:p>
          <a:p>
            <a:pPr>
              <a:spcBef>
                <a:spcPts val="200"/>
              </a:spcBef>
              <a:defRPr sz="1100">
                <a:solidFill>
                  <a:srgbClr val="1E2923"/>
                </a:solidFill>
                <a:latin typeface="Arial"/>
              </a:defRPr>
            </a:pPr>
            <a:r>
              <a:t>Thursday, September 17, 2026</a:t>
            </a:r>
          </a:p>
          <a:p>
            <a:pPr>
              <a:spcBef>
                <a:spcPts val="800"/>
              </a:spcBef>
              <a:defRPr b="1" sz="1200">
                <a:solidFill>
                  <a:srgbClr val="1B4332"/>
                </a:solidFill>
                <a:latin typeface="Arial"/>
              </a:defRPr>
            </a:pPr>
            <a:r>
              <a:t>⏰ Timeframe:</a:t>
            </a:r>
          </a:p>
          <a:p>
            <a:pPr>
              <a:spcBef>
                <a:spcPts val="200"/>
              </a:spcBef>
              <a:defRPr sz="1100">
                <a:solidFill>
                  <a:srgbClr val="1E2923"/>
                </a:solidFill>
                <a:latin typeface="Arial"/>
              </a:defRPr>
            </a:pPr>
            <a:r>
              <a:t>8:30 AM – 3:30 PM (7 Hours Operational)</a:t>
            </a:r>
          </a:p>
          <a:p>
            <a:pPr>
              <a:spcBef>
                <a:spcPts val="800"/>
              </a:spcBef>
              <a:defRPr b="1" sz="1200">
                <a:solidFill>
                  <a:srgbClr val="1B4332"/>
                </a:solidFill>
                <a:latin typeface="Arial"/>
              </a:defRPr>
            </a:pPr>
            <a:r>
              <a:t>📍 Official Venue:</a:t>
            </a:r>
          </a:p>
          <a:p>
            <a:pPr>
              <a:spcBef>
                <a:spcPts val="200"/>
              </a:spcBef>
              <a:defRPr sz="1100">
                <a:solidFill>
                  <a:srgbClr val="1E2923"/>
                </a:solidFill>
                <a:latin typeface="Arial"/>
              </a:defRPr>
            </a:pPr>
            <a:r>
              <a:t>PHINMA University of Pangasinan Gymnasium</a:t>
            </a:r>
          </a:p>
          <a:p>
            <a:pPr>
              <a:spcBef>
                <a:spcPts val="800"/>
              </a:spcBef>
              <a:defRPr b="1" sz="1200">
                <a:solidFill>
                  <a:srgbClr val="1B4332"/>
                </a:solidFill>
                <a:latin typeface="Arial"/>
              </a:defRPr>
            </a:pPr>
            <a:r>
              <a:t>📌 Location:</a:t>
            </a:r>
          </a:p>
          <a:p>
            <a:pPr>
              <a:spcBef>
                <a:spcPts val="200"/>
              </a:spcBef>
              <a:defRPr sz="1100">
                <a:solidFill>
                  <a:srgbClr val="1E2923"/>
                </a:solidFill>
                <a:latin typeface="Arial"/>
              </a:defRPr>
            </a:pPr>
            <a:r>
              <a:t>Arellano Street, Dagupan City, Pangasinan</a:t>
            </a:r>
          </a:p>
          <a:p>
            <a:pPr>
              <a:spcBef>
                <a:spcPts val="800"/>
              </a:spcBef>
              <a:defRPr b="1" sz="1200">
                <a:solidFill>
                  <a:srgbClr val="1B4332"/>
                </a:solidFill>
                <a:latin typeface="Arial"/>
              </a:defRPr>
            </a:pPr>
            <a:r>
              <a:t>🏛️ Facility Type:</a:t>
            </a:r>
          </a:p>
          <a:p>
            <a:pPr>
              <a:spcBef>
                <a:spcPts val="200"/>
              </a:spcBef>
              <a:defRPr sz="1100">
                <a:solidFill>
                  <a:srgbClr val="1E2923"/>
                </a:solidFill>
                <a:latin typeface="Arial"/>
              </a:defRPr>
            </a:pPr>
            <a:r>
              <a:t>University Indoor Sports &amp; Assembly Complex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0640" y="1371600"/>
            <a:ext cx="329184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0" y="1554480"/>
            <a:ext cx="2926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1B4332"/>
                </a:solidFill>
                <a:latin typeface="Georgia"/>
              </a:defRPr>
            </a:pPr>
            <a:r>
              <a:t>👥 500+ Seating Capacity</a:t>
            </a:r>
          </a:p>
          <a:p>
            <a:pPr>
              <a:spcBef>
                <a:spcPts val="600"/>
              </a:spcBef>
              <a:defRPr sz="1050">
                <a:solidFill>
                  <a:srgbClr val="1E2923"/>
                </a:solidFill>
                <a:latin typeface="Arial"/>
              </a:defRPr>
            </a:pPr>
            <a:r>
              <a:t>Ample floor and bleacher capacity to seat 500+ delegates comfortably while maintaining clear aisleways and safety egress.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0" y="1371600"/>
            <a:ext cx="329184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78240" y="1554480"/>
            <a:ext cx="2926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1B4332"/>
                </a:solidFill>
                <a:latin typeface="Georgia"/>
              </a:defRPr>
            </a:pPr>
            <a:r>
              <a:t>🎤 Elevated Stage &amp; Backing</a:t>
            </a:r>
          </a:p>
          <a:p>
            <a:pPr>
              <a:spcBef>
                <a:spcPts val="600"/>
              </a:spcBef>
              <a:defRPr sz="1050">
                <a:solidFill>
                  <a:srgbClr val="1E2923"/>
                </a:solidFill>
                <a:latin typeface="Arial"/>
              </a:defRPr>
            </a:pPr>
            <a:r>
              <a:t>Dedicated high main stage providing complete sightlines for plenary keynote lectures, slide projections, and ceremonies.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20640" y="3840480"/>
            <a:ext cx="329184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0" y="4023360"/>
            <a:ext cx="2926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1B4332"/>
                </a:solidFill>
                <a:latin typeface="Georgia"/>
              </a:defRPr>
            </a:pPr>
            <a:r>
              <a:t>🔊 Acoustic &amp; AV Setup</a:t>
            </a:r>
          </a:p>
          <a:p>
            <a:pPr>
              <a:spcBef>
                <a:spcPts val="600"/>
              </a:spcBef>
              <a:defRPr sz="1050">
                <a:solidFill>
                  <a:srgbClr val="1E2923"/>
                </a:solidFill>
                <a:latin typeface="Arial"/>
              </a:defRPr>
            </a:pPr>
            <a:r>
              <a:t>Integrated university sound reinforcement system, wireless lapel microphones, and LED/projector connectivity for crystal-clear talks.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95360" y="3840480"/>
            <a:ext cx="329184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240" y="4023360"/>
            <a:ext cx="2926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1B4332"/>
                </a:solidFill>
                <a:latin typeface="Georgia"/>
              </a:defRPr>
            </a:pPr>
            <a:r>
              <a:t>🚪 Dedicated Foyer &amp; VIP Zone</a:t>
            </a:r>
          </a:p>
          <a:p>
            <a:pPr>
              <a:spcBef>
                <a:spcPts val="600"/>
              </a:spcBef>
              <a:defRPr sz="1050">
                <a:solidFill>
                  <a:srgbClr val="1E2923"/>
                </a:solidFill>
                <a:latin typeface="Arial"/>
              </a:defRPr>
            </a:pPr>
            <a:r>
              <a:t>Spacious foyer for orderly multi-lane kit distribution, and secure air-conditioned VIP lounge for guest speaker dining.</a:t>
            </a:r>
          </a:p>
        </p:txBody>
      </p:sp>
    </p:spTree>
  </p:cSld>
  <p:clrMapOvr>
    <a:masterClrMapping/>
  </p:clrMapOvr>
  <p:transition spd="fast">
    <p:push dir="r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4AF37"/>
                </a:solidFill>
                <a:latin typeface="Arial"/>
              </a:defRPr>
            </a:pPr>
            <a:r>
              <a:t>SECTION 7 (PART 1) • SCHEDULE OF ACTIVITIES (08:30 AM – 12:00 PM)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Georgia"/>
              </a:defRPr>
            </a:pPr>
            <a:r>
              <a:t>Program Flow: Morning Plenary Sessions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DCE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73952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F6E64"/>
                </a:solidFill>
                <a:latin typeface="Arial"/>
              </a:defRPr>
            </a:pPr>
            <a:r>
              <a:t>PHINMA University of Pangasinan • College of Hospitality and Tourism Management • BAM 205: MICE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1371600"/>
          <a:ext cx="1072865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926080"/>
                <a:gridCol w="3840480"/>
                <a:gridCol w="2133295"/>
              </a:tblGrid>
              <a:tr h="79248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D4AF37"/>
                          </a:solidFill>
                          <a:latin typeface="Arial"/>
                        </a:defRPr>
                      </a:pPr>
                      <a:r>
                        <a:t>Time</a:t>
                      </a:r>
                    </a:p>
                  </a:txBody>
                  <a:tcPr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D4AF37"/>
                          </a:solidFill>
                          <a:latin typeface="Arial"/>
                        </a:defRPr>
                      </a:pPr>
                      <a:r>
                        <a:t>Session Title</a:t>
                      </a:r>
                    </a:p>
                  </a:txBody>
                  <a:tcPr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D4AF37"/>
                          </a:solidFill>
                          <a:latin typeface="Arial"/>
                        </a:defRPr>
                      </a:pPr>
                      <a:r>
                        <a:t>Description / Content</a:t>
                      </a:r>
                    </a:p>
                  </a:txBody>
                  <a:tcPr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D4AF37"/>
                          </a:solidFill>
                          <a:latin typeface="Arial"/>
                        </a:defRPr>
                      </a:pPr>
                      <a:r>
                        <a:t>Person / Group in Charge</a:t>
                      </a:r>
                    </a:p>
                  </a:txBody>
                  <a:tcPr>
                    <a:solidFill>
                      <a:srgbClr val="1B4332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B4332"/>
                          </a:solidFill>
                          <a:latin typeface="Arial"/>
                        </a:defRPr>
                      </a:pPr>
                      <a:r>
                        <a:t>08:30 AM – 09:00 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2923"/>
                          </a:solidFill>
                          <a:latin typeface="Arial"/>
                        </a:defRPr>
                      </a:pPr>
                      <a:r>
                        <a:t>Delegate Registration &amp; Kit Distribution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23"/>
                          </a:solidFill>
                          <a:latin typeface="Arial"/>
                        </a:defRPr>
                      </a:pPr>
                      <a:r>
                        <a:t>Sign-in at Gym foyer registration desks; distribution of conference badges, notepad kits, and session programs.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23"/>
                          </a:solidFill>
                          <a:latin typeface="Arial"/>
                        </a:defRPr>
                      </a:pPr>
                      <a:r>
                        <a:t>Secretariat &amp; Registration Team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B4332"/>
                          </a:solidFill>
                          <a:latin typeface="Arial"/>
                        </a:defRPr>
                      </a:pPr>
                      <a:r>
                        <a:t>09:00 AM – 09:30 AM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2923"/>
                          </a:solidFill>
                          <a:latin typeface="Arial"/>
                        </a:defRPr>
                      </a:pPr>
                      <a:r>
                        <a:t>Opening Plenary &amp; Welcome Address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23"/>
                          </a:solidFill>
                          <a:latin typeface="Arial"/>
                        </a:defRPr>
                      </a:pPr>
                      <a:r>
                        <a:t>Doxology, National Anthem, and Opening Remarks by CHTM Leadership.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23"/>
                          </a:solidFill>
                          <a:latin typeface="Arial"/>
                        </a:defRPr>
                      </a:pPr>
                      <a:r>
                        <a:t>Conference Master of Ceremonies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B4332"/>
                          </a:solidFill>
                          <a:latin typeface="Arial"/>
                        </a:defRPr>
                      </a:pPr>
                      <a:r>
                        <a:t>09:30 AM – 10:30 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2923"/>
                          </a:solidFill>
                          <a:latin typeface="Arial"/>
                        </a:defRPr>
                      </a:pPr>
                      <a:r>
                        <a:t>Keynote 1: Coastal Eco-Tourism Frameworks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23"/>
                          </a:solidFill>
                          <a:latin typeface="Arial"/>
                        </a:defRPr>
                      </a:pPr>
                      <a:r>
                        <a:t>Presentation on sustainable destination management across Pangasinan municipalities.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23"/>
                          </a:solidFill>
                          <a:latin typeface="Arial"/>
                        </a:defRPr>
                      </a:pPr>
                      <a:r>
                        <a:t>Invited Municipal Tourism Officer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B4332"/>
                          </a:solidFill>
                          <a:latin typeface="Arial"/>
                        </a:defRPr>
                      </a:pPr>
                      <a:r>
                        <a:t>10:30 AM – 11:30 AM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2923"/>
                          </a:solidFill>
                          <a:latin typeface="Arial"/>
                        </a:defRPr>
                      </a:pPr>
                      <a:r>
                        <a:t>Keynote 2: Preserving Heritage Flavor Profiles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23"/>
                          </a:solidFill>
                          <a:latin typeface="Arial"/>
                        </a:defRPr>
                      </a:pPr>
                      <a:r>
                        <a:t>Industry talk on preserving regional culinary recipes and integrating them into modern hospitality.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23"/>
                          </a:solidFill>
                          <a:latin typeface="Arial"/>
                        </a:defRPr>
                      </a:pPr>
                      <a:r>
                        <a:t>Guest Chef / Culinary Historian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B4332"/>
                          </a:solidFill>
                          <a:latin typeface="Arial"/>
                        </a:defRPr>
                      </a:pPr>
                      <a:r>
                        <a:t>11:30 AM – 12:00 PM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2923"/>
                          </a:solidFill>
                          <a:latin typeface="Arial"/>
                        </a:defRPr>
                      </a:pPr>
                      <a:r>
                        <a:t>Open Forum &amp; Delegate Q&amp;A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23"/>
                          </a:solidFill>
                          <a:latin typeface="Arial"/>
                        </a:defRPr>
                      </a:pPr>
                      <a:r>
                        <a:t>Floor microphones open for delegate inquiries directed to Keynote Speakers 1 and 2.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23"/>
                          </a:solidFill>
                          <a:latin typeface="Arial"/>
                        </a:defRPr>
                      </a:pPr>
                      <a:r>
                        <a:t>Stage Moderator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fast">
    <p:push dir="r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4AF37"/>
                </a:solidFill>
                <a:latin typeface="Arial"/>
              </a:defRPr>
            </a:pPr>
            <a:r>
              <a:t>SECTION 7 (PART 2) • SCHEDULE OF ACTIVITIES (12:00 PM – 03:30 PM)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Georgia"/>
              </a:defRPr>
            </a:pPr>
            <a:r>
              <a:t>Program Flow: Afternoon Colloquium &amp; Closing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DCE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73952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F6E64"/>
                </a:solidFill>
                <a:latin typeface="Arial"/>
              </a:defRPr>
            </a:pPr>
            <a:r>
              <a:t>PHINMA University of Pangasinan • College of Hospitality and Tourism Management • BAM 205: MICE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1371600"/>
          <a:ext cx="10728655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926080"/>
                <a:gridCol w="3840480"/>
                <a:gridCol w="2133295"/>
              </a:tblGrid>
              <a:tr h="786384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D4AF37"/>
                          </a:solidFill>
                          <a:latin typeface="Arial"/>
                        </a:defRPr>
                      </a:pPr>
                      <a:r>
                        <a:t>Time</a:t>
                      </a:r>
                    </a:p>
                  </a:txBody>
                  <a:tcPr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D4AF37"/>
                          </a:solidFill>
                          <a:latin typeface="Arial"/>
                        </a:defRPr>
                      </a:pPr>
                      <a:r>
                        <a:t>Session Title</a:t>
                      </a:r>
                    </a:p>
                  </a:txBody>
                  <a:tcPr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D4AF37"/>
                          </a:solidFill>
                          <a:latin typeface="Arial"/>
                        </a:defRPr>
                      </a:pPr>
                      <a:r>
                        <a:t>Description / Content</a:t>
                      </a:r>
                    </a:p>
                  </a:txBody>
                  <a:tcPr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D4AF37"/>
                          </a:solidFill>
                          <a:latin typeface="Arial"/>
                        </a:defRPr>
                      </a:pPr>
                      <a:r>
                        <a:t>Person / Group in Charge</a:t>
                      </a:r>
                    </a:p>
                  </a:txBody>
                  <a:tcPr>
                    <a:solidFill>
                      <a:srgbClr val="1B4332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B4332"/>
                          </a:solidFill>
                          <a:latin typeface="Arial"/>
                        </a:defRPr>
                      </a:pPr>
                      <a:r>
                        <a:t>12:00 PM – 01:00 PM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2923"/>
                          </a:solidFill>
                          <a:latin typeface="Arial"/>
                        </a:defRPr>
                      </a:pPr>
                      <a:r>
                        <a:t>Lunch Break &amp; Networking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23"/>
                          </a:solidFill>
                          <a:latin typeface="Arial"/>
                        </a:defRPr>
                      </a:pPr>
                      <a:r>
                        <a:t>Networking lunch for delegates; VIP dining in the designated Gym VIP Lounge.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23"/>
                          </a:solidFill>
                          <a:latin typeface="Arial"/>
                        </a:defRPr>
                      </a:pPr>
                      <a:r>
                        <a:t>Logistics &amp; Catering Team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B4332"/>
                          </a:solidFill>
                          <a:latin typeface="Arial"/>
                        </a:defRPr>
                      </a:pPr>
                      <a:r>
                        <a:t>01:00 PM – 02:30 PM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2923"/>
                          </a:solidFill>
                          <a:latin typeface="Arial"/>
                        </a:defRPr>
                      </a:pPr>
                      <a:r>
                        <a:t>Panel Session: Student Research Colloquium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23"/>
                          </a:solidFill>
                          <a:latin typeface="Arial"/>
                        </a:defRPr>
                      </a:pPr>
                      <a:r>
                        <a:t>Oral presentations of 4 selected student research papers on local resort models and eco-tourism.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23"/>
                          </a:solidFill>
                          <a:latin typeface="Arial"/>
                        </a:defRPr>
                      </a:pPr>
                      <a:r>
                        <a:t>Student Presenters &amp; Reactor Panel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B4332"/>
                          </a:solidFill>
                          <a:latin typeface="Arial"/>
                        </a:defRPr>
                      </a:pPr>
                      <a:r>
                        <a:t>02:30 PM – 03:15 PM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2923"/>
                          </a:solidFill>
                          <a:latin typeface="Arial"/>
                        </a:defRPr>
                      </a:pPr>
                      <a:r>
                        <a:t>Awarding of Best Paper &amp; Certificates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23"/>
                          </a:solidFill>
                          <a:latin typeface="Arial"/>
                        </a:defRPr>
                      </a:pPr>
                      <a:r>
                        <a:t>Conferment of Plaque of Appreciation to speakers and Best Student Research Presentation.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23"/>
                          </a:solidFill>
                          <a:latin typeface="Arial"/>
                        </a:defRPr>
                      </a:pPr>
                      <a:r>
                        <a:t>Conference Director &amp; CHTM Dean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B4332"/>
                          </a:solidFill>
                          <a:latin typeface="Arial"/>
                        </a:defRPr>
                      </a:pPr>
                      <a:r>
                        <a:t>03:15 PM – 03:30 PM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2923"/>
                          </a:solidFill>
                          <a:latin typeface="Arial"/>
                        </a:defRPr>
                      </a:pPr>
                      <a:r>
                        <a:t>Closing Remarks &amp; Photo Session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23"/>
                          </a:solidFill>
                          <a:latin typeface="Arial"/>
                        </a:defRPr>
                      </a:pPr>
                      <a:r>
                        <a:t>Formal adjournment of PECS 2026 Conference followed by group photo on the main stage.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23"/>
                          </a:solidFill>
                          <a:latin typeface="Arial"/>
                        </a:defRPr>
                      </a:pPr>
                      <a:r>
                        <a:t>Conference Director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31520" y="5486400"/>
            <a:ext cx="10728655" cy="777240"/>
          </a:xfrm>
          <a:prstGeom prst="roundRect">
            <a:avLst/>
          </a:prstGeom>
          <a:solidFill>
            <a:srgbClr val="E8F3EF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532120"/>
            <a:ext cx="10332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1B4332"/>
                </a:solidFill>
                <a:latin typeface="Arial"/>
              </a:defRPr>
            </a:pPr>
            <a:r>
              <a:t>⏱️ Time Management Protocol:</a:t>
            </a:r>
          </a:p>
          <a:p>
            <a:pPr>
              <a:defRPr sz="1000">
                <a:solidFill>
                  <a:srgbClr val="1E2923"/>
                </a:solidFill>
                <a:latin typeface="Arial"/>
              </a:defRPr>
            </a:pPr>
            <a:r>
              <a:t>Each student presenter is allocated 15 minutes presentation + 5 minutes reactor critique. Stage timer monitors will be visible to enforce punctual program execution.</a:t>
            </a:r>
          </a:p>
        </p:txBody>
      </p:sp>
    </p:spTree>
  </p:cSld>
  <p:clrMapOvr>
    <a:masterClrMapping/>
  </p:clrMapOvr>
  <p:transition spd="fast">
    <p:push dir="r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4AF37"/>
                </a:solidFill>
                <a:latin typeface="Arial"/>
              </a:defRPr>
            </a:pPr>
            <a:r>
              <a:t>SECTION 8 • COST BREAKDOWN &amp; FUNDING MECHANISM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Georgia"/>
              </a:defRPr>
            </a:pPr>
            <a:r>
              <a:t>Estimated Budget &amp; Financial Plan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DCE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73952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F6E64"/>
                </a:solidFill>
                <a:latin typeface="Arial"/>
              </a:defRPr>
            </a:pPr>
            <a:r>
              <a:t>PHINMA University of Pangasinan • College of Hospitality and Tourism Management • BAM 205: MICE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1371600"/>
          <a:ext cx="713232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188720"/>
                <a:gridCol w="3566160"/>
              </a:tblGrid>
              <a:tr h="79248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D4AF37"/>
                          </a:solidFill>
                          <a:latin typeface="Arial"/>
                        </a:defRPr>
                      </a:pPr>
                      <a:r>
                        <a:t>Expense Item</a:t>
                      </a:r>
                    </a:p>
                  </a:txBody>
                  <a:tcPr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D4AF37"/>
                          </a:solidFill>
                          <a:latin typeface="Arial"/>
                        </a:defRPr>
                      </a:pPr>
                      <a:r>
                        <a:t>Estimated Cost</a:t>
                      </a:r>
                    </a:p>
                  </a:txBody>
                  <a:tcPr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D4AF37"/>
                          </a:solidFill>
                          <a:latin typeface="Arial"/>
                        </a:defRPr>
                      </a:pPr>
                      <a:r>
                        <a:t>Notes / Details</a:t>
                      </a:r>
                    </a:p>
                  </a:txBody>
                  <a:tcPr>
                    <a:solidFill>
                      <a:srgbClr val="1B4332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2923"/>
                          </a:solidFill>
                          <a:latin typeface="Arial"/>
                        </a:defRPr>
                      </a:pPr>
                      <a:r>
                        <a:t>Keynote Speaker Honoraria &amp; Tokens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B4332"/>
                          </a:solidFill>
                          <a:latin typeface="Arial"/>
                        </a:defRPr>
                      </a:pPr>
                      <a:r>
                        <a:t>₱15,000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23"/>
                          </a:solidFill>
                          <a:latin typeface="Arial"/>
                        </a:defRPr>
                      </a:pPr>
                      <a:r>
                        <a:t>Tokens of appreciation, local produce gift baskets, and honoraria for guest speakers.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2923"/>
                          </a:solidFill>
                          <a:latin typeface="Arial"/>
                        </a:defRPr>
                      </a:pPr>
                      <a:r>
                        <a:t>Delegate Kits &amp; Printed Materials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B4332"/>
                          </a:solidFill>
                          <a:latin typeface="Arial"/>
                        </a:defRPr>
                      </a:pPr>
                      <a:r>
                        <a:t>₱20,000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23"/>
                          </a:solidFill>
                          <a:latin typeface="Arial"/>
                        </a:defRPr>
                      </a:pPr>
                      <a:r>
                        <a:t>Lanyards, printed ID badges, notepad kits, pens, and certificates for 500 delegates.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2923"/>
                          </a:solidFill>
                          <a:latin typeface="Arial"/>
                        </a:defRPr>
                      </a:pPr>
                      <a:r>
                        <a:t>Venue Audio-Visual &amp; Stage Framing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B4332"/>
                          </a:solidFill>
                          <a:latin typeface="Arial"/>
                        </a:defRPr>
                      </a:pPr>
                      <a:r>
                        <a:t>₱15,000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23"/>
                          </a:solidFill>
                          <a:latin typeface="Arial"/>
                        </a:defRPr>
                      </a:pPr>
                      <a:r>
                        <a:t>Gymnasium stage LED wall/projector backdrop, wireless lapels, roving floor mics, and podium setup.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2923"/>
                          </a:solidFill>
                          <a:latin typeface="Arial"/>
                        </a:defRPr>
                      </a:pPr>
                      <a:r>
                        <a:t>VIP &amp; Speaker Catering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B4332"/>
                          </a:solidFill>
                          <a:latin typeface="Arial"/>
                        </a:defRPr>
                      </a:pPr>
                      <a:r>
                        <a:t>₱10,000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23"/>
                          </a:solidFill>
                          <a:latin typeface="Arial"/>
                        </a:defRPr>
                      </a:pPr>
                      <a:r>
                        <a:t>Plated lunch and AM/PM snacks for invited guest speakers and panel reactors.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TOTAL ESTIMATED BUDGET</a:t>
                      </a:r>
                    </a:p>
                  </a:txBody>
                  <a:tcPr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D4AF37"/>
                          </a:solidFill>
                          <a:latin typeface="Arial"/>
                        </a:defRPr>
                      </a:pPr>
                      <a:r>
                        <a:t>₱60,000</a:t>
                      </a:r>
                    </a:p>
                  </a:txBody>
                  <a:tcPr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Complete budget covering all 500 delegates and 10 VIP speakers.</a:t>
                      </a:r>
                    </a:p>
                  </a:txBody>
                  <a:tcPr>
                    <a:solidFill>
                      <a:srgbClr val="1B4332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8046720" y="1371600"/>
            <a:ext cx="3413455" cy="2194560"/>
          </a:xfrm>
          <a:prstGeom prst="roundRect">
            <a:avLst/>
          </a:prstGeom>
          <a:solidFill>
            <a:srgbClr val="1B4332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554480"/>
            <a:ext cx="30476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37"/>
                </a:solidFill>
                <a:latin typeface="Arial"/>
              </a:defRPr>
            </a:pPr>
            <a:r>
              <a:t>TOTAL BUDGET</a:t>
            </a:r>
          </a:p>
          <a:p>
            <a:pPr>
              <a:spcBef>
                <a:spcPts val="400"/>
              </a:spcBef>
              <a:defRPr sz="3200" b="1">
                <a:solidFill>
                  <a:srgbClr val="FFFFFF"/>
                </a:solidFill>
                <a:latin typeface="Georgia"/>
              </a:defRPr>
            </a:pPr>
            <a:r>
              <a:t>₱60,000</a:t>
            </a:r>
          </a:p>
          <a:p>
            <a:pPr>
              <a:spcBef>
                <a:spcPts val="400"/>
              </a:spcBef>
              <a:defRPr sz="1000">
                <a:solidFill>
                  <a:srgbClr val="F3DE8A"/>
                </a:solidFill>
                <a:latin typeface="Arial"/>
              </a:defRPr>
            </a:pPr>
            <a:r>
              <a:t>Cost per delegate: ~₱120 (Highly cost-efficient academic staging)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3749039"/>
            <a:ext cx="3413455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3886200"/>
            <a:ext cx="3047695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B4332"/>
                </a:solidFill>
                <a:latin typeface="Arial"/>
              </a:defRPr>
            </a:pPr>
            <a:r>
              <a:t>FUNDING MECHANISM</a:t>
            </a:r>
          </a:p>
          <a:p>
            <a:pPr>
              <a:spcBef>
                <a:spcPts val="600"/>
              </a:spcBef>
              <a:defRPr sz="1000">
                <a:solidFill>
                  <a:srgbClr val="1E2923"/>
                </a:solidFill>
                <a:latin typeface="Arial"/>
              </a:defRPr>
            </a:pPr>
            <a:r>
              <a:t>1. Student Conference Fees</a:t>
            </a:r>
            <a:br/>
            <a:r>
              <a:t>Covering physical kits, lanyards, and certificates.</a:t>
            </a:r>
            <a:br/>
            <a:br/>
            <a:r>
              <a:t>2. CHTM Departmental Support</a:t>
            </a:r>
            <a:br/>
            <a:r>
              <a:t>Subsidizing speaker tokens, stage backdrops, and technical AV assets.</a:t>
            </a:r>
          </a:p>
        </p:txBody>
      </p:sp>
    </p:spTree>
  </p:cSld>
  <p:clrMapOvr>
    <a:masterClrMapping/>
  </p:clrMapOvr>
  <p:transition spd="fast">
    <p:push dir="r"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4AF37"/>
                </a:solidFill>
                <a:latin typeface="Arial"/>
              </a:defRPr>
            </a:pPr>
            <a:r>
              <a:t>SECTION 9 • DELEGATE ACQUISITION &amp; AWARENESS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Georgia"/>
              </a:defRPr>
            </a:pPr>
            <a:r>
              <a:t>Marketing &amp; Promotional Strategy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DCE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73952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F6E64"/>
                </a:solidFill>
                <a:latin typeface="Arial"/>
              </a:defRPr>
            </a:pPr>
            <a:r>
              <a:t>PHINMA University of Pangasinan • College of Hospitality and Tourism Management • BAM 205: MICE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371600"/>
            <a:ext cx="3413455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371600"/>
            <a:ext cx="3413455" cy="54864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D4AF37"/>
                </a:solidFill>
                <a:latin typeface="Arial"/>
              </a:defRPr>
            </a:pPr>
            <a:r>
              <a:t>DIGITAL ENGAGEMENT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03120"/>
            <a:ext cx="304769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B4332"/>
                </a:solidFill>
                <a:latin typeface="Georgia"/>
              </a:defRPr>
            </a:pPr>
            <a:r>
              <a:t>📱 Social Media Teaser Campaign</a:t>
            </a:r>
          </a:p>
          <a:p>
            <a:pPr>
              <a:spcBef>
                <a:spcPts val="800"/>
              </a:spcBef>
              <a:defRPr sz="1050">
                <a:solidFill>
                  <a:srgbClr val="1E2923"/>
                </a:solidFill>
                <a:latin typeface="Arial"/>
              </a:defRPr>
            </a:pPr>
            <a:r>
              <a:t>Launch targeted countdown graphics and keynote speaker spot-highlights across CHTM departmental Facebook &amp; Instagram pages starting September 7, 2026 (10 days prior).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5440680"/>
            <a:ext cx="3047695" cy="502920"/>
          </a:xfrm>
          <a:prstGeom prst="roundRect">
            <a:avLst/>
          </a:prstGeom>
          <a:solidFill>
            <a:srgbClr val="E8F3EF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950">
                <a:solidFill>
                  <a:srgbClr val="1B4332"/>
                </a:solidFill>
                <a:latin typeface="Arial"/>
              </a:defRPr>
            </a:pPr>
            <a:r>
              <a:t>Timeline: Sept 7 – Sept 17, 2026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1371600"/>
            <a:ext cx="3413455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0" y="1371600"/>
            <a:ext cx="3413455" cy="54864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FFFFFF"/>
                </a:solidFill>
                <a:latin typeface="Arial"/>
              </a:defRPr>
            </a:pPr>
            <a:r>
              <a:t>PHYSICAL TOUCHPOINTS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103120"/>
            <a:ext cx="304769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B4332"/>
                </a:solidFill>
                <a:latin typeface="Georgia"/>
              </a:defRPr>
            </a:pPr>
            <a:r>
              <a:t>📌 Campus Bulletin Displays</a:t>
            </a:r>
          </a:p>
          <a:p>
            <a:pPr>
              <a:spcBef>
                <a:spcPts val="800"/>
              </a:spcBef>
              <a:defRPr sz="1050">
                <a:solidFill>
                  <a:srgbClr val="1E2923"/>
                </a:solidFill>
                <a:latin typeface="Arial"/>
              </a:defRPr>
            </a:pPr>
            <a:r>
              <a:t>Mount full-color promotional posters, QR code registration infographics, and program agendas across CHTM bulletin boards and high-traffic gym walkways.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0" y="5440680"/>
            <a:ext cx="3047695" cy="502920"/>
          </a:xfrm>
          <a:prstGeom prst="roundRect">
            <a:avLst/>
          </a:prstGeom>
          <a:solidFill>
            <a:srgbClr val="E8F3EF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950">
                <a:solidFill>
                  <a:srgbClr val="1B4332"/>
                </a:solidFill>
                <a:latin typeface="Arial"/>
              </a:defRPr>
            </a:pPr>
            <a:r>
              <a:t>Coverage: High-foot-traffic halls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1371600"/>
            <a:ext cx="3413455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20" y="1371600"/>
            <a:ext cx="3413455" cy="54864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D4AF37"/>
                </a:solidFill>
                <a:latin typeface="Arial"/>
              </a:defRPr>
            </a:pPr>
            <a:r>
              <a:t>DIRECT OUTREACH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2103120"/>
            <a:ext cx="304769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B4332"/>
                </a:solidFill>
                <a:latin typeface="Georgia"/>
              </a:defRPr>
            </a:pPr>
            <a:r>
              <a:t>🗣️ Class-to-Class Caravan</a:t>
            </a:r>
          </a:p>
          <a:p>
            <a:pPr>
              <a:spcBef>
                <a:spcPts val="800"/>
              </a:spcBef>
              <a:defRPr sz="1050">
                <a:solidFill>
                  <a:srgbClr val="1E2923"/>
                </a:solidFill>
                <a:latin typeface="Arial"/>
              </a:defRPr>
            </a:pPr>
            <a:r>
              <a:t>Conduct synchronized 3-minute promotional walkthroughs across all BSHM and BSTM lecture classes to explain conference learning outcomes and drive registration.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5440680"/>
            <a:ext cx="3047695" cy="502920"/>
          </a:xfrm>
          <a:prstGeom prst="roundRect">
            <a:avLst/>
          </a:prstGeom>
          <a:solidFill>
            <a:srgbClr val="E8F3EF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950">
                <a:solidFill>
                  <a:srgbClr val="1B4332"/>
                </a:solidFill>
                <a:latin typeface="Arial"/>
              </a:defRPr>
            </a:pPr>
            <a:r>
              <a:t>Audience: 500+ BSHM/BSTM Students</a:t>
            </a:r>
          </a:p>
        </p:txBody>
      </p:sp>
    </p:spTree>
  </p:cSld>
  <p:clrMapOvr>
    <a:masterClrMapping/>
  </p:clrMapOvr>
  <p:transition spd="fast">
    <p:push dir="r"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4AF37"/>
                </a:solidFill>
                <a:latin typeface="Arial"/>
              </a:defRPr>
            </a:pPr>
            <a:r>
              <a:t>SECTION 10 • BAM 205 ORGANIZING COMMITTEE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Georgia"/>
              </a:defRPr>
            </a:pPr>
            <a:r>
              <a:t>Organizational Structure &amp; Committee Roles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DCE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73952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F6E64"/>
                </a:solidFill>
                <a:latin typeface="Arial"/>
              </a:defRPr>
            </a:pPr>
            <a:r>
              <a:t>PHINMA University of Pangasinan • College of Hospitality and Tourism Management • BAM 205: MICE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325880"/>
            <a:ext cx="10728655" cy="8778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435608"/>
            <a:ext cx="2926080" cy="658368"/>
          </a:xfrm>
          <a:prstGeom prst="round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00">
                <a:solidFill>
                  <a:srgbClr val="D4AF37"/>
                </a:solidFill>
                <a:latin typeface="Georgia"/>
              </a:defRPr>
            </a:pPr>
            <a:r>
              <a:t>🏆 Conference Director</a:t>
            </a:r>
          </a:p>
          <a:p>
            <a:pPr>
              <a:defRPr sz="850">
                <a:solidFill>
                  <a:srgbClr val="FFFFFF"/>
                </a:solidFill>
                <a:latin typeface="Arial"/>
              </a:defRPr>
            </a:pPr>
            <a:r>
              <a:t>EXECUTIVE LEADERSHIP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417320"/>
            <a:ext cx="731520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E2923"/>
                </a:solidFill>
                <a:latin typeface="Arial"/>
              </a:defRPr>
            </a:pPr>
            <a:r>
              <a:t>Leads overall event management, approves presentation decks, enforces strict time control, and coordinates institutional approvals with CHTM Administration.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313432"/>
            <a:ext cx="10728655" cy="8778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68680" y="2423160"/>
            <a:ext cx="2926080" cy="658368"/>
          </a:xfrm>
          <a:prstGeom prst="round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00">
                <a:solidFill>
                  <a:srgbClr val="D4AF37"/>
                </a:solidFill>
                <a:latin typeface="Georgia"/>
              </a:defRPr>
            </a:pPr>
            <a:r>
              <a:t>🎬 Stage &amp; Program Lead</a:t>
            </a:r>
          </a:p>
          <a:p>
            <a:pPr>
              <a:defRPr sz="850">
                <a:solidFill>
                  <a:srgbClr val="FFFFFF"/>
                </a:solidFill>
                <a:latin typeface="Arial"/>
              </a:defRPr>
            </a:pPr>
            <a:r>
              <a:t>PRODUCTION CONTROL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404872"/>
            <a:ext cx="731520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E2923"/>
                </a:solidFill>
                <a:latin typeface="Arial"/>
              </a:defRPr>
            </a:pPr>
            <a:r>
              <a:t>Manages main-stage cues, slide transitions, stage timer displays, audio prompts, and coordinates floor moderators during plenary Q&amp;A sessions.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300984"/>
            <a:ext cx="10728655" cy="8778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68680" y="3410712"/>
            <a:ext cx="2926080" cy="658368"/>
          </a:xfrm>
          <a:prstGeom prst="round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00">
                <a:solidFill>
                  <a:srgbClr val="D4AF37"/>
                </a:solidFill>
                <a:latin typeface="Georgia"/>
              </a:defRPr>
            </a:pPr>
            <a:r>
              <a:t>📋 Secretariat &amp; Registration Lead</a:t>
            </a:r>
          </a:p>
          <a:p>
            <a:pPr>
              <a:defRPr sz="850">
                <a:solidFill>
                  <a:srgbClr val="FFFFFF"/>
                </a:solidFill>
                <a:latin typeface="Arial"/>
              </a:defRPr>
            </a:pPr>
            <a:r>
              <a:t>DELEGATE EXPERIENCE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392424"/>
            <a:ext cx="731520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E2923"/>
                </a:solidFill>
                <a:latin typeface="Arial"/>
              </a:defRPr>
            </a:pPr>
            <a:r>
              <a:t>Oversees delegate check-in at Gym foyer desks, physical kit distribution, issuance of digital certificates, and digital feedback form consolidation.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288536"/>
            <a:ext cx="10728655" cy="8778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68680" y="4398264"/>
            <a:ext cx="2926080" cy="658368"/>
          </a:xfrm>
          <a:prstGeom prst="round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00">
                <a:solidFill>
                  <a:srgbClr val="D4AF37"/>
                </a:solidFill>
                <a:latin typeface="Georgia"/>
              </a:defRPr>
            </a:pPr>
            <a:r>
              <a:t>🤝 Speaker Relations Lead</a:t>
            </a:r>
          </a:p>
          <a:p>
            <a:pPr>
              <a:defRPr sz="850">
                <a:solidFill>
                  <a:srgbClr val="FFFFFF"/>
                </a:solidFill>
                <a:latin typeface="Arial"/>
              </a:defRPr>
            </a:pPr>
            <a:r>
              <a:t>VIP MANAGEMENT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4379976"/>
            <a:ext cx="731520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E2923"/>
                </a:solidFill>
                <a:latin typeface="Arial"/>
              </a:defRPr>
            </a:pPr>
            <a:r>
              <a:t>Coordinates travel logistics, VIP holding room hospitality, honoraria distribution, and dedicated stage escorting for keynote speakers and panelists.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276088"/>
            <a:ext cx="10728655" cy="8778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68680" y="5385816"/>
            <a:ext cx="2926080" cy="658368"/>
          </a:xfrm>
          <a:prstGeom prst="round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00">
                <a:solidFill>
                  <a:srgbClr val="D4AF37"/>
                </a:solidFill>
                <a:latin typeface="Georgia"/>
              </a:defRPr>
            </a:pPr>
            <a:r>
              <a:t>🎛️ Technical &amp; AV Lead</a:t>
            </a:r>
          </a:p>
          <a:p>
            <a:pPr>
              <a:defRPr sz="850">
                <a:solidFill>
                  <a:srgbClr val="FFFFFF"/>
                </a:solidFill>
                <a:latin typeface="Arial"/>
              </a:defRPr>
            </a:pPr>
            <a:r>
              <a:t>INFRASTRUCTURE &amp; TECH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5367528"/>
            <a:ext cx="731520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E2923"/>
                </a:solidFill>
                <a:latin typeface="Arial"/>
              </a:defRPr>
            </a:pPr>
            <a:r>
              <a:t>Manages Gymnasium audio levels, main LED backdrop screen inputs, stage lighting controls, livestreaming, and session recording gear.</a:t>
            </a:r>
          </a:p>
        </p:txBody>
      </p:sp>
    </p:spTree>
  </p:cSld>
  <p:clrMapOvr>
    <a:masterClrMapping/>
  </p:clrMapOvr>
  <p:transition spd="fast">
    <p:push dir="r"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4AF37"/>
                </a:solidFill>
                <a:latin typeface="Arial"/>
              </a:defRPr>
            </a:pPr>
            <a:r>
              <a:t>SECTION 11 • BRAND AESTHETIC &amp; STAGE SETUP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Georgia"/>
              </a:defRPr>
            </a:pPr>
            <a:r>
              <a:t>Visual Identity &amp; Environmental Design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DCE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73952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F6E64"/>
                </a:solidFill>
                <a:latin typeface="Arial"/>
              </a:defRPr>
            </a:pPr>
            <a:r>
              <a:t>PHINMA University of Pangasinan • College of Hospitality and Tourism Management • BAM 205: MICE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325880"/>
            <a:ext cx="2514600" cy="1645920"/>
          </a:xfrm>
          <a:prstGeom prst="roundRect">
            <a:avLst/>
          </a:prstGeom>
          <a:solidFill>
            <a:srgbClr val="1B4332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FFFFFF"/>
                </a:solidFill>
                <a:latin typeface="Georgia"/>
              </a:defRPr>
            </a:pPr>
            <a:r>
              <a:t>Coastal Forest Green</a:t>
            </a:r>
          </a:p>
          <a:p>
            <a:pPr>
              <a:spcBef>
                <a:spcPts val="300"/>
              </a:spcBef>
              <a:defRPr sz="900">
                <a:solidFill>
                  <a:srgbClr val="FFFFFF"/>
                </a:solidFill>
                <a:latin typeface="Arial"/>
              </a:defRPr>
            </a:pPr>
            <a:r>
              <a:t>#1B4332 • Primary Brand Color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1325880"/>
            <a:ext cx="2514600" cy="1645920"/>
          </a:xfrm>
          <a:prstGeom prst="roundRect">
            <a:avLst/>
          </a:prstGeom>
          <a:solidFill>
            <a:srgbClr val="D4AF37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1B4332"/>
                </a:solidFill>
                <a:latin typeface="Georgia"/>
              </a:defRPr>
            </a:pPr>
            <a:r>
              <a:t>Harvest Gold</a:t>
            </a:r>
          </a:p>
          <a:p>
            <a:pPr>
              <a:spcBef>
                <a:spcPts val="300"/>
              </a:spcBef>
              <a:defRPr sz="900">
                <a:solidFill>
                  <a:srgbClr val="1B4332"/>
                </a:solidFill>
                <a:latin typeface="Arial"/>
              </a:defRPr>
            </a:pPr>
            <a:r>
              <a:t>#D4AF37 • Primary Accent Color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25880"/>
            <a:ext cx="2514600" cy="164592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FFFFFF"/>
                </a:solidFill>
                <a:latin typeface="Georgia"/>
              </a:defRPr>
            </a:pPr>
            <a:r>
              <a:t>Ocean Aqua</a:t>
            </a:r>
          </a:p>
          <a:p>
            <a:pPr>
              <a:spcBef>
                <a:spcPts val="300"/>
              </a:spcBef>
              <a:defRPr sz="900">
                <a:solidFill>
                  <a:srgbClr val="FFFFFF"/>
                </a:solidFill>
                <a:latin typeface="Arial"/>
              </a:defRPr>
            </a:pPr>
            <a:r>
              <a:t>#2A9D8F • Secondary Accent Color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0" y="1325880"/>
            <a:ext cx="2514600" cy="164592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1E2923"/>
                </a:solidFill>
                <a:latin typeface="Georgia"/>
              </a:defRPr>
            </a:pPr>
            <a:r>
              <a:t>Soft Sand</a:t>
            </a:r>
          </a:p>
          <a:p>
            <a:pPr>
              <a:spcBef>
                <a:spcPts val="300"/>
              </a:spcBef>
              <a:defRPr sz="900">
                <a:solidFill>
                  <a:srgbClr val="1E2923"/>
                </a:solidFill>
                <a:latin typeface="Arial"/>
              </a:defRPr>
            </a:pPr>
            <a:r>
              <a:t>#F8F9FA • Neutral Foundation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154680"/>
            <a:ext cx="516636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3154680"/>
            <a:ext cx="5166360" cy="45720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D4AF37"/>
                </a:solidFill>
                <a:latin typeface="Arial"/>
              </a:defRPr>
            </a:pPr>
            <a:r>
              <a:t>OFFICIAL EVENT EMBLEM &amp; LOGO CONCEPT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703320"/>
            <a:ext cx="480060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1B4332"/>
                </a:solidFill>
                <a:latin typeface="Arial"/>
              </a:defRPr>
            </a:pPr>
            <a:r>
              <a:t>Emblem Structure:</a:t>
            </a:r>
          </a:p>
          <a:p>
            <a:pPr>
              <a:defRPr sz="1000">
                <a:solidFill>
                  <a:srgbClr val="1E2923"/>
                </a:solidFill>
                <a:latin typeface="Arial"/>
              </a:defRPr>
            </a:pPr>
            <a:r>
              <a:t>A circular crest featuring a stylized green leaf merging seamlessly with an ocean wave, framing a minimalist golden chef’s toque at the center.</a:t>
            </a:r>
          </a:p>
          <a:p>
            <a:pPr>
              <a:spcBef>
                <a:spcPts val="600"/>
              </a:spcBef>
              <a:defRPr b="1" sz="1100">
                <a:solidFill>
                  <a:srgbClr val="1B4332"/>
                </a:solidFill>
                <a:latin typeface="Arial"/>
              </a:defRPr>
            </a:pPr>
            <a:r>
              <a:t>Symbolic Meaning:</a:t>
            </a:r>
          </a:p>
          <a:p>
            <a:pPr>
              <a:defRPr sz="1000">
                <a:solidFill>
                  <a:srgbClr val="1E2923"/>
                </a:solidFill>
                <a:latin typeface="Arial"/>
              </a:defRPr>
            </a:pPr>
            <a:r>
              <a:t>Unifies environmental coastal conservation (leaf &amp; wave) with regional gastronomic innovation (chef's toque).</a:t>
            </a:r>
          </a:p>
          <a:p>
            <a:pPr>
              <a:spcBef>
                <a:spcPts val="600"/>
              </a:spcBef>
              <a:defRPr b="1" sz="1100">
                <a:solidFill>
                  <a:srgbClr val="1B4332"/>
                </a:solidFill>
                <a:latin typeface="Arial"/>
              </a:defRPr>
            </a:pPr>
            <a:r>
              <a:t>Typography Hierarchy:</a:t>
            </a:r>
          </a:p>
          <a:p>
            <a:pPr>
              <a:defRPr sz="1000">
                <a:solidFill>
                  <a:srgbClr val="1E2923"/>
                </a:solidFill>
                <a:latin typeface="Arial"/>
              </a:defRPr>
            </a:pPr>
            <a:r>
              <a:t>High-impact serif typeface for 'PECS 2026' paired with a modern sans-serif subtext for regional clarity.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3154680"/>
            <a:ext cx="516636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91072" y="3154680"/>
            <a:ext cx="5166360" cy="45720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D4AF37"/>
                </a:solidFill>
                <a:latin typeface="Arial"/>
              </a:defRPr>
            </a:pPr>
            <a:r>
              <a:t>STAGE SETUP &amp; DELEGATE COLLATERAL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3703320"/>
            <a:ext cx="480060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2A9D8F"/>
                </a:solidFill>
                <a:latin typeface="Arial"/>
              </a:defRPr>
            </a:pPr>
            <a:r>
              <a:t>Gymnasium Stage Setup:</a:t>
            </a:r>
          </a:p>
          <a:p>
            <a:pPr>
              <a:defRPr sz="1000">
                <a:solidFill>
                  <a:srgbClr val="1E2923"/>
                </a:solidFill>
                <a:latin typeface="Arial"/>
              </a:defRPr>
            </a:pPr>
            <a:r>
              <a:t>16:9 LED wall backdrop in Coastal Forest Green with Harvest Gold accents; sleek acrylic podium with official emblem, flanked by native potted palms.</a:t>
            </a:r>
          </a:p>
          <a:p>
            <a:pPr>
              <a:spcBef>
                <a:spcPts val="600"/>
              </a:spcBef>
              <a:defRPr b="1" sz="1100">
                <a:solidFill>
                  <a:srgbClr val="2A9D8F"/>
                </a:solidFill>
                <a:latin typeface="Arial"/>
              </a:defRPr>
            </a:pPr>
            <a:r>
              <a:t>Badges &amp; Lanyards:</a:t>
            </a:r>
          </a:p>
          <a:p>
            <a:pPr>
              <a:defRPr sz="1000">
                <a:solidFill>
                  <a:srgbClr val="1E2923"/>
                </a:solidFill>
                <a:latin typeface="Arial"/>
              </a:defRPr>
            </a:pPr>
            <a:r>
              <a:t>Dark green lanyards paired with color-coded ID badges (Green for Delegates, Gold for Committee, Blue for Keynote Speakers/VIPs).</a:t>
            </a:r>
          </a:p>
          <a:p>
            <a:pPr>
              <a:spcBef>
                <a:spcPts val="600"/>
              </a:spcBef>
              <a:defRPr b="1" sz="1100">
                <a:solidFill>
                  <a:srgbClr val="2A9D8F"/>
                </a:solidFill>
                <a:latin typeface="Arial"/>
              </a:defRPr>
            </a:pPr>
            <a:r>
              <a:t>Eco Conference Tote Kits:</a:t>
            </a:r>
          </a:p>
          <a:p>
            <a:pPr>
              <a:defRPr sz="1000">
                <a:solidFill>
                  <a:srgbClr val="1E2923"/>
                </a:solidFill>
                <a:latin typeface="Arial"/>
              </a:defRPr>
            </a:pPr>
            <a:r>
              <a:t>Canvas bags containing branded notepads, pens, program booklets, and QR access cards for digital verified certificates.</a:t>
            </a:r>
          </a:p>
        </p:txBody>
      </p:sp>
    </p:spTree>
  </p:cSld>
  <p:clrMapOvr>
    <a:masterClrMapping/>
  </p:clrMapOvr>
  <p:transition spd="fast">
    <p:push dir="r"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4AF37"/>
                </a:solidFill>
                <a:latin typeface="Arial"/>
              </a:defRPr>
            </a:pPr>
            <a:r>
              <a:t>SECTION 12 (PART 1) • ADMINISTRATIVE COMMUNICATION LETTERS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Georgia"/>
              </a:defRPr>
            </a:pPr>
            <a:r>
              <a:t>Letter 1: Gymnasium Reservation &amp; Facility Access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DCE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73952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F6E64"/>
                </a:solidFill>
                <a:latin typeface="Arial"/>
              </a:defRPr>
            </a:pPr>
            <a:r>
              <a:t>PHINMA University of Pangasinan • College of Hospitality and Tourism Management • BAM 205: MICE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371600"/>
            <a:ext cx="38404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371600"/>
            <a:ext cx="3840480" cy="50292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D4AF37"/>
                </a:solidFill>
                <a:latin typeface="Arial"/>
              </a:defRPr>
            </a:pPr>
            <a:r>
              <a:t>TRANSMITTAL DETAILS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965960"/>
            <a:ext cx="3566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1B4332"/>
                </a:solidFill>
                <a:latin typeface="Arial"/>
              </a:defRPr>
            </a:pPr>
            <a:r>
              <a:t>📅 Date of Transmittal:</a:t>
            </a:r>
          </a:p>
          <a:p>
            <a:pPr>
              <a:spcBef>
                <a:spcPts val="200"/>
              </a:spcBef>
              <a:defRPr sz="1050">
                <a:solidFill>
                  <a:srgbClr val="1E2923"/>
                </a:solidFill>
                <a:latin typeface="Arial"/>
              </a:defRPr>
            </a:pPr>
            <a:r>
              <a:t>September 2, 2026</a:t>
            </a:r>
          </a:p>
          <a:p>
            <a:pPr>
              <a:spcBef>
                <a:spcPts val="800"/>
              </a:spcBef>
              <a:defRPr b="1" sz="1100">
                <a:solidFill>
                  <a:srgbClr val="1B4332"/>
                </a:solidFill>
                <a:latin typeface="Arial"/>
              </a:defRPr>
            </a:pPr>
            <a:r>
              <a:t>📬 Recipient Office:</a:t>
            </a:r>
          </a:p>
          <a:p>
            <a:pPr>
              <a:spcBef>
                <a:spcPts val="200"/>
              </a:spcBef>
              <a:defRPr sz="1050">
                <a:solidFill>
                  <a:srgbClr val="1E2923"/>
                </a:solidFill>
                <a:latin typeface="Arial"/>
              </a:defRPr>
            </a:pPr>
            <a:r>
              <a:t>The Office of the VPAA / Campus Facilities &amp; Athletics Office, PHINMA-UPang</a:t>
            </a:r>
          </a:p>
          <a:p>
            <a:pPr>
              <a:spcBef>
                <a:spcPts val="800"/>
              </a:spcBef>
              <a:defRPr b="1" sz="1100">
                <a:solidFill>
                  <a:srgbClr val="1B4332"/>
                </a:solidFill>
                <a:latin typeface="Arial"/>
              </a:defRPr>
            </a:pPr>
            <a:r>
              <a:t>📌 Subject Matter:</a:t>
            </a:r>
          </a:p>
          <a:p>
            <a:pPr>
              <a:spcBef>
                <a:spcPts val="200"/>
              </a:spcBef>
              <a:defRPr sz="1050">
                <a:solidFill>
                  <a:srgbClr val="1E2923"/>
                </a:solidFill>
                <a:latin typeface="Arial"/>
              </a:defRPr>
            </a:pPr>
            <a:r>
              <a:t>Venue Reservation, Technical Support &amp; Facility Access for PECS 2026</a:t>
            </a:r>
          </a:p>
          <a:p>
            <a:pPr>
              <a:spcBef>
                <a:spcPts val="800"/>
              </a:spcBef>
              <a:defRPr b="1" sz="1100">
                <a:solidFill>
                  <a:srgbClr val="1B4332"/>
                </a:solidFill>
                <a:latin typeface="Arial"/>
              </a:defRPr>
            </a:pPr>
            <a:r>
              <a:t>✍️ Signatory Authority:</a:t>
            </a:r>
          </a:p>
          <a:p>
            <a:pPr>
              <a:spcBef>
                <a:spcPts val="200"/>
              </a:spcBef>
              <a:defRPr sz="1050">
                <a:solidFill>
                  <a:srgbClr val="1E2923"/>
                </a:solidFill>
                <a:latin typeface="Arial"/>
              </a:defRPr>
            </a:pPr>
            <a:r>
              <a:t>Conference Director, PECS 2026 (CHTM BAM 205)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0" y="1371600"/>
            <a:ext cx="6705295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0" y="1371600"/>
            <a:ext cx="6705295" cy="5029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FFFFFF"/>
                </a:solidFill>
                <a:latin typeface="Arial"/>
              </a:defRPr>
            </a:pPr>
            <a:r>
              <a:t>OFFICIAL TRANSMITTAL 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1965960"/>
            <a:ext cx="6309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1B4332"/>
                </a:solidFill>
                <a:latin typeface="Georgia"/>
              </a:defRPr>
            </a:pPr>
            <a:r>
              <a:t>Dear Administration,</a:t>
            </a:r>
          </a:p>
          <a:p>
            <a:pPr>
              <a:spcBef>
                <a:spcPts val="400"/>
              </a:spcBef>
              <a:defRPr sz="1000">
                <a:solidFill>
                  <a:srgbClr val="1E2923"/>
                </a:solidFill>
                <a:latin typeface="Arial"/>
              </a:defRPr>
            </a:pPr>
            <a:r>
              <a:t>The CHTM BAM 205 class respectfully requests permission to reserve and utilize the PHINMA-University of Pangasinan Gymnasium for PECS 2026 on September 17, 2026, from 7:00 AM to 5:00 PM (inclusive of setup, operational hours, and teardown).</a:t>
            </a:r>
          </a:p>
          <a:p>
            <a:pPr>
              <a:spcBef>
                <a:spcPts val="400"/>
              </a:spcBef>
              <a:defRPr sz="1000" b="1">
                <a:solidFill>
                  <a:srgbClr val="1B4332"/>
                </a:solidFill>
                <a:latin typeface="Arial"/>
              </a:defRPr>
            </a:pPr>
            <a:r>
              <a:t>We also humbly request after-hours setup authorization for Sept 16, 2026 (until 7:00 PM) and technical support for:</a:t>
            </a:r>
          </a:p>
          <a:p>
            <a:pPr>
              <a:spcBef>
                <a:spcPts val="200"/>
              </a:spcBef>
              <a:defRPr sz="950">
                <a:solidFill>
                  <a:srgbClr val="1E2923"/>
                </a:solidFill>
                <a:latin typeface="Arial"/>
              </a:defRPr>
            </a:pPr>
            <a:r>
              <a:t>1. Main stage projector/LED screen integration with HDMI connectivity.</a:t>
            </a:r>
          </a:p>
          <a:p>
            <a:pPr>
              <a:spcBef>
                <a:spcPts val="200"/>
              </a:spcBef>
              <a:defRPr sz="950">
                <a:solidFill>
                  <a:srgbClr val="1E2923"/>
                </a:solidFill>
                <a:latin typeface="Arial"/>
              </a:defRPr>
            </a:pPr>
            <a:r>
              <a:t>2. Sound system setup: 1 podium mic, 4 wireless handheld mics, and 2 lapel mics.</a:t>
            </a:r>
          </a:p>
          <a:p>
            <a:pPr>
              <a:spcBef>
                <a:spcPts val="200"/>
              </a:spcBef>
              <a:defRPr sz="950">
                <a:solidFill>
                  <a:srgbClr val="1E2923"/>
                </a:solidFill>
                <a:latin typeface="Arial"/>
              </a:defRPr>
            </a:pPr>
            <a:r>
              <a:t>3. Stage podium, panel chairs, and 500 spectator chairs arranged theater-style.</a:t>
            </a:r>
          </a:p>
          <a:p>
            <a:pPr>
              <a:spcBef>
                <a:spcPts val="200"/>
              </a:spcBef>
              <a:defRPr sz="950">
                <a:solidFill>
                  <a:srgbClr val="1E2923"/>
                </a:solidFill>
                <a:latin typeface="Arial"/>
              </a:defRPr>
            </a:pPr>
            <a:r>
              <a:t>4. Full facility ventilation, cooling, and lighting support during operational hours.</a:t>
            </a:r>
          </a:p>
          <a:p>
            <a:pPr>
              <a:spcBef>
                <a:spcPts val="600"/>
              </a:spcBef>
              <a:defRPr b="1" sz="1000">
                <a:solidFill>
                  <a:srgbClr val="1B4332"/>
                </a:solidFill>
                <a:latin typeface="Arial"/>
              </a:defRPr>
            </a:pPr>
            <a:r>
              <a:t>Respectfully yours,</a:t>
            </a:r>
            <a:br/>
            <a:r>
              <a:t>[Your Name] — Conference Director, PECS 2026</a:t>
            </a:r>
          </a:p>
        </p:txBody>
      </p:sp>
    </p:spTree>
  </p:cSld>
  <p:clrMapOvr>
    <a:masterClrMapping/>
  </p:clrMapOvr>
  <p:transition spd="fast">
    <p:push dir="r"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4AF37"/>
                </a:solidFill>
                <a:latin typeface="Arial"/>
              </a:defRPr>
            </a:pPr>
            <a:r>
              <a:t>SECTION 12 (PART 2) • ADMINISTRATIVE COMMUNICATION LETTERS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Georgia"/>
              </a:defRPr>
            </a:pPr>
            <a:r>
              <a:t>Letter 2: Official Keynote Speaker Invitation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DCE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73952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F6E64"/>
                </a:solidFill>
                <a:latin typeface="Arial"/>
              </a:defRPr>
            </a:pPr>
            <a:r>
              <a:t>PHINMA University of Pangasinan • College of Hospitality and Tourism Management • BAM 205: MICE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371600"/>
            <a:ext cx="38404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371600"/>
            <a:ext cx="3840480" cy="50292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D4AF37"/>
                </a:solidFill>
                <a:latin typeface="Arial"/>
              </a:defRPr>
            </a:pPr>
            <a:r>
              <a:t>INVITATION PARAMETERS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965960"/>
            <a:ext cx="3566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1B4332"/>
                </a:solidFill>
                <a:latin typeface="Arial"/>
              </a:defRPr>
            </a:pPr>
            <a:r>
              <a:t>📅 Date of Invitation:</a:t>
            </a:r>
          </a:p>
          <a:p>
            <a:pPr>
              <a:spcBef>
                <a:spcPts val="200"/>
              </a:spcBef>
              <a:defRPr sz="1000">
                <a:solidFill>
                  <a:srgbClr val="1E2923"/>
                </a:solidFill>
                <a:latin typeface="Arial"/>
              </a:defRPr>
            </a:pPr>
            <a:r>
              <a:t>September 2, 2026</a:t>
            </a:r>
          </a:p>
          <a:p>
            <a:pPr>
              <a:spcBef>
                <a:spcPts val="600"/>
              </a:spcBef>
              <a:defRPr b="1" sz="1100">
                <a:solidFill>
                  <a:srgbClr val="1B4332"/>
                </a:solidFill>
                <a:latin typeface="Arial"/>
              </a:defRPr>
            </a:pPr>
            <a:r>
              <a:t>📬 Target Honoree:</a:t>
            </a:r>
          </a:p>
          <a:p>
            <a:pPr>
              <a:spcBef>
                <a:spcPts val="200"/>
              </a:spcBef>
              <a:defRPr sz="1000">
                <a:solidFill>
                  <a:srgbClr val="1E2923"/>
                </a:solidFill>
                <a:latin typeface="Arial"/>
              </a:defRPr>
            </a:pPr>
            <a:r>
              <a:t>[Speaker's Name / Title], [Organization Name]</a:t>
            </a:r>
          </a:p>
          <a:p>
            <a:pPr>
              <a:spcBef>
                <a:spcPts val="600"/>
              </a:spcBef>
              <a:defRPr b="1" sz="1100">
                <a:solidFill>
                  <a:srgbClr val="1B4332"/>
                </a:solidFill>
                <a:latin typeface="Arial"/>
              </a:defRPr>
            </a:pPr>
            <a:r>
              <a:t>⏱️ Session Allocation:</a:t>
            </a:r>
          </a:p>
          <a:p>
            <a:pPr>
              <a:spcBef>
                <a:spcPts val="200"/>
              </a:spcBef>
              <a:defRPr sz="1000">
                <a:solidFill>
                  <a:srgbClr val="1E2923"/>
                </a:solidFill>
                <a:latin typeface="Arial"/>
              </a:defRPr>
            </a:pPr>
            <a:r>
              <a:t>45-Minute Plenary Presentation + 15-Minute Open Floor Q&amp;A</a:t>
            </a:r>
          </a:p>
          <a:p>
            <a:pPr>
              <a:spcBef>
                <a:spcPts val="600"/>
              </a:spcBef>
              <a:defRPr b="1" sz="1100">
                <a:solidFill>
                  <a:srgbClr val="1B4332"/>
                </a:solidFill>
                <a:latin typeface="Arial"/>
              </a:defRPr>
            </a:pPr>
            <a:r>
              <a:t>🎁 VIP Provision:</a:t>
            </a:r>
          </a:p>
          <a:p>
            <a:pPr>
              <a:spcBef>
                <a:spcPts val="200"/>
              </a:spcBef>
              <a:defRPr sz="1000">
                <a:solidFill>
                  <a:srgbClr val="1E2923"/>
                </a:solidFill>
                <a:latin typeface="Arial"/>
              </a:defRPr>
            </a:pPr>
            <a:r>
              <a:t>Private holding lounge, plated catering, formal honoraria, parking pass &amp; local token basket</a:t>
            </a:r>
          </a:p>
          <a:p>
            <a:pPr>
              <a:spcBef>
                <a:spcPts val="600"/>
              </a:spcBef>
              <a:defRPr b="1" sz="1100">
                <a:solidFill>
                  <a:srgbClr val="1B4332"/>
                </a:solidFill>
                <a:latin typeface="Arial"/>
              </a:defRPr>
            </a:pPr>
            <a:r>
              <a:t>✍️ Signatory Authority:</a:t>
            </a:r>
          </a:p>
          <a:p>
            <a:pPr>
              <a:spcBef>
                <a:spcPts val="200"/>
              </a:spcBef>
              <a:defRPr sz="1000">
                <a:solidFill>
                  <a:srgbClr val="1E2923"/>
                </a:solidFill>
                <a:latin typeface="Arial"/>
              </a:defRPr>
            </a:pPr>
            <a:r>
              <a:t>Speaker Relations Lead, PECS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0" y="1371600"/>
            <a:ext cx="6705295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0" y="1371600"/>
            <a:ext cx="6705295" cy="5029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FFFFFF"/>
                </a:solidFill>
                <a:latin typeface="Arial"/>
              </a:defRPr>
            </a:pPr>
            <a:r>
              <a:t>OFFICIAL INVITATION LETTER 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1965960"/>
            <a:ext cx="6309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1B4332"/>
                </a:solidFill>
                <a:latin typeface="Georgia"/>
              </a:defRPr>
            </a:pPr>
            <a:r>
              <a:t>Dear [Speaker's Name],</a:t>
            </a:r>
          </a:p>
          <a:p>
            <a:pPr>
              <a:spcBef>
                <a:spcPts val="400"/>
              </a:spcBef>
              <a:defRPr sz="1000">
                <a:solidFill>
                  <a:srgbClr val="1E2923"/>
                </a:solidFill>
                <a:latin typeface="Arial"/>
              </a:defRPr>
            </a:pPr>
            <a:r>
              <a:t>Greetings from PHINMA University of Pangasinan!</a:t>
            </a:r>
            <a:br/>
            <a:br/>
            <a:r>
              <a:t>The College of Hospitality and Tourism Management cordially invites you to serve as a Keynote Speaker for the Pangasinan Eco-Haven &amp; Culinary Showcase 2026 (PECS 2026) Conference on Thursday, September 17, 2026, at the PHINMA-UPang Gymnasium.</a:t>
            </a:r>
          </a:p>
          <a:p>
            <a:pPr>
              <a:spcBef>
                <a:spcPts val="600"/>
              </a:spcBef>
              <a:defRPr sz="1000">
                <a:solidFill>
                  <a:srgbClr val="1E2923"/>
                </a:solidFill>
                <a:latin typeface="Arial"/>
              </a:defRPr>
            </a:pPr>
            <a:r>
              <a:t>Our conference theme, “Sustaining the Coastline: Strategies for Eco-Tourism Development and Heritage Culinary Preservation in Pangasinan,” aims to equip 500+ undergraduate delegates with actionable strategies for sustainable hospitality growth. Given your distinguished expertise, we would be honored to have you deliver a 45-minute presentation followed by a 15-minute open Q&amp;A session.</a:t>
            </a:r>
          </a:p>
          <a:p>
            <a:pPr>
              <a:spcBef>
                <a:spcPts val="600"/>
              </a:spcBef>
              <a:defRPr sz="1000">
                <a:solidFill>
                  <a:srgbClr val="1E2923"/>
                </a:solidFill>
                <a:latin typeface="Arial"/>
              </a:defRPr>
            </a:pPr>
            <a:r>
              <a:t>Dedicated VIP hospitality, honorarium, and campus parking will be provided. We look forward to confirming your participation.</a:t>
            </a:r>
            <a:br/>
            <a:br/>
            <a:r>
              <a:t>Warm regards,</a:t>
            </a:r>
            <a:br/>
            <a:r>
              <a:t>[Your Name] — Speaker Relations Lead, PECS 2026</a:t>
            </a:r>
          </a:p>
        </p:txBody>
      </p:sp>
    </p:spTree>
  </p:cSld>
  <p:clrMapOvr>
    <a:masterClrMapping/>
  </p:clrMapOvr>
  <p:transition spd="fast">
    <p:push dir="r"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4AF37"/>
                </a:solidFill>
                <a:latin typeface="Arial"/>
              </a:defRPr>
            </a:pPr>
            <a:r>
              <a:t>SECTION 12 (PART 3) • ADMINISTRATIVE COMMUNICATION LETTERS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Georgia"/>
              </a:defRPr>
            </a:pPr>
            <a:r>
              <a:t>Letter 3: Student Class Excuse Authorization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DCE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73952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F6E64"/>
                </a:solidFill>
                <a:latin typeface="Arial"/>
              </a:defRPr>
            </a:pPr>
            <a:r>
              <a:t>PHINMA University of Pangasinan • College of Hospitality and Tourism Management • BAM 205: MICE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371600"/>
            <a:ext cx="38404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371600"/>
            <a:ext cx="3840480" cy="50292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D4AF37"/>
                </a:solidFill>
                <a:latin typeface="Arial"/>
              </a:defRPr>
            </a:pPr>
            <a:r>
              <a:t>EXCUSAL SPECIFICATIONS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965960"/>
            <a:ext cx="3566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1B4332"/>
                </a:solidFill>
                <a:latin typeface="Arial"/>
              </a:defRPr>
            </a:pPr>
            <a:r>
              <a:t>📅 Date of Notice:</a:t>
            </a:r>
          </a:p>
          <a:p>
            <a:pPr>
              <a:spcBef>
                <a:spcPts val="200"/>
              </a:spcBef>
              <a:defRPr sz="1000">
                <a:solidFill>
                  <a:srgbClr val="1E2923"/>
                </a:solidFill>
                <a:latin typeface="Arial"/>
              </a:defRPr>
            </a:pPr>
            <a:r>
              <a:t>September 14, 2026</a:t>
            </a:r>
          </a:p>
          <a:p>
            <a:pPr>
              <a:spcBef>
                <a:spcPts val="600"/>
              </a:spcBef>
              <a:defRPr b="1" sz="1100">
                <a:solidFill>
                  <a:srgbClr val="1B4332"/>
                </a:solidFill>
                <a:latin typeface="Arial"/>
              </a:defRPr>
            </a:pPr>
            <a:r>
              <a:t>📬 Recipients:</a:t>
            </a:r>
          </a:p>
          <a:p>
            <a:pPr>
              <a:spcBef>
                <a:spcPts val="200"/>
              </a:spcBef>
              <a:defRPr sz="1000">
                <a:solidFill>
                  <a:srgbClr val="1E2923"/>
                </a:solidFill>
                <a:latin typeface="Arial"/>
              </a:defRPr>
            </a:pPr>
            <a:r>
              <a:t>CHTM Faculty Members and Department Chairs</a:t>
            </a:r>
          </a:p>
          <a:p>
            <a:pPr>
              <a:spcBef>
                <a:spcPts val="600"/>
              </a:spcBef>
              <a:defRPr b="1" sz="1100">
                <a:solidFill>
                  <a:srgbClr val="1B4332"/>
                </a:solidFill>
                <a:latin typeface="Arial"/>
              </a:defRPr>
            </a:pPr>
            <a:r>
              <a:t>👥 Covered Cohort:</a:t>
            </a:r>
          </a:p>
          <a:p>
            <a:pPr>
              <a:spcBef>
                <a:spcPts val="200"/>
              </a:spcBef>
              <a:defRPr sz="1000">
                <a:solidFill>
                  <a:srgbClr val="1E2923"/>
                </a:solidFill>
                <a:latin typeface="Arial"/>
              </a:defRPr>
            </a:pPr>
            <a:r>
              <a:t>All participating BSHM &amp; BSTM student organizers and registered delegates</a:t>
            </a:r>
          </a:p>
          <a:p>
            <a:pPr>
              <a:spcBef>
                <a:spcPts val="600"/>
              </a:spcBef>
              <a:defRPr b="1" sz="1100">
                <a:solidFill>
                  <a:srgbClr val="1B4332"/>
                </a:solidFill>
                <a:latin typeface="Arial"/>
              </a:defRPr>
            </a:pPr>
            <a:r>
              <a:t>⏰ Excusal Duration:</a:t>
            </a:r>
          </a:p>
          <a:p>
            <a:pPr>
              <a:spcBef>
                <a:spcPts val="200"/>
              </a:spcBef>
              <a:defRPr sz="1000">
                <a:solidFill>
                  <a:srgbClr val="1E2923"/>
                </a:solidFill>
                <a:latin typeface="Arial"/>
              </a:defRPr>
            </a:pPr>
            <a:r>
              <a:t>Thursday, September 17, 2026 (8:00 AM – 4:00 PM)</a:t>
            </a:r>
          </a:p>
          <a:p>
            <a:pPr>
              <a:spcBef>
                <a:spcPts val="600"/>
              </a:spcBef>
              <a:defRPr b="1" sz="1100">
                <a:solidFill>
                  <a:srgbClr val="1B4332"/>
                </a:solidFill>
                <a:latin typeface="Arial"/>
              </a:defRPr>
            </a:pPr>
            <a:r>
              <a:t>⚖️ Academic Policy:</a:t>
            </a:r>
          </a:p>
          <a:p>
            <a:pPr>
              <a:spcBef>
                <a:spcPts val="200"/>
              </a:spcBef>
              <a:defRPr sz="1000">
                <a:solidFill>
                  <a:srgbClr val="1E2923"/>
                </a:solidFill>
                <a:latin typeface="Arial"/>
              </a:defRPr>
            </a:pPr>
            <a:r>
              <a:t>Students remain accountable for all missed lectures and course deliverables.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0" y="1371600"/>
            <a:ext cx="6705295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0" y="1371600"/>
            <a:ext cx="6705295" cy="5029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FFFFFF"/>
                </a:solidFill>
                <a:latin typeface="Arial"/>
              </a:defRPr>
            </a:pPr>
            <a:r>
              <a:t>OFFICIAL FACULTY TRANSMITTAL 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1965960"/>
            <a:ext cx="6309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1B4332"/>
                </a:solidFill>
                <a:latin typeface="Georgia"/>
              </a:defRPr>
            </a:pPr>
            <a:r>
              <a:t>Dear Professors,</a:t>
            </a:r>
          </a:p>
          <a:p>
            <a:pPr>
              <a:spcBef>
                <a:spcPts val="600"/>
              </a:spcBef>
              <a:defRPr sz="1050">
                <a:solidFill>
                  <a:srgbClr val="1E2923"/>
                </a:solidFill>
                <a:latin typeface="Arial"/>
              </a:defRPr>
            </a:pPr>
            <a:r>
              <a:t>The organizing committee of PECS 2026 respectfully requests class excuse for participating BSHM and BSTM student organizers and registered delegates on Thursday, September 17, 2026, from 8:00 AM to 4:00 PM.</a:t>
            </a:r>
          </a:p>
          <a:p>
            <a:pPr>
              <a:spcBef>
                <a:spcPts val="800"/>
              </a:spcBef>
              <a:defRPr sz="1050">
                <a:solidFill>
                  <a:srgbClr val="1E2923"/>
                </a:solidFill>
                <a:latin typeface="Arial"/>
              </a:defRPr>
            </a:pPr>
            <a:r>
              <a:t>These students will be actively managing conference logistics, main-stage operations, secretariat desks, and participating in session discussions at the PHINMA-UPang Gymnasium to fulfill BAM 205 course requirements. Participating students remain accountable for all academic responsibilities and missed lectures.</a:t>
            </a:r>
          </a:p>
          <a:p>
            <a:pPr>
              <a:spcBef>
                <a:spcPts val="800"/>
              </a:spcBef>
              <a:defRPr sz="1050">
                <a:solidFill>
                  <a:srgbClr val="1E2923"/>
                </a:solidFill>
                <a:latin typeface="Arial"/>
              </a:defRPr>
            </a:pPr>
            <a:r>
              <a:t>Thank you for your cooperation and support.</a:t>
            </a:r>
            <a:br/>
            <a:br/>
            <a:r>
              <a:t>Sincerely,</a:t>
            </a:r>
            <a:br/>
            <a:r>
              <a:t>[Your Name] — Conference Director, PECS 2026</a:t>
            </a:r>
          </a:p>
        </p:txBody>
      </p:sp>
    </p:spTree>
  </p:cSld>
  <p:clrMapOvr>
    <a:masterClrMapping/>
  </p:clrMapOvr>
  <p:transition spd="fast">
    <p:push dir="r"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4AF37"/>
                </a:solidFill>
                <a:latin typeface="Arial"/>
              </a:defRPr>
            </a:pPr>
            <a:r>
              <a:t>SECTION 12 (PART 4) • RISK MANAGEMENT &amp; ACADEMIC COMPLIANCE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Georgia"/>
              </a:defRPr>
            </a:pPr>
            <a:r>
              <a:t>Form 4: Parent’s / Guardian’s Official Consent Form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DCE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73952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F6E64"/>
                </a:solidFill>
                <a:latin typeface="Arial"/>
              </a:defRPr>
            </a:pPr>
            <a:r>
              <a:t>PHINMA University of Pangasinan • College of Hospitality and Tourism Management • BAM 205: MICE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325880"/>
            <a:ext cx="10728655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325880"/>
            <a:ext cx="10728655" cy="68580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D4AF37"/>
                </a:solidFill>
                <a:latin typeface="Arial"/>
              </a:defRPr>
            </a:pPr>
            <a:r>
              <a:t>PHINMA UNIVERSITY OF PANGASINAN • COLLEGE OF HOSPITALITY AND TOURISM MANAGEMENT</a:t>
            </a:r>
          </a:p>
          <a:p>
            <a:pPr algn="ctr">
              <a:defRPr b="1" sz="1200">
                <a:solidFill>
                  <a:srgbClr val="FFFFFF"/>
                </a:solidFill>
                <a:latin typeface="Georgia"/>
              </a:defRPr>
            </a:pPr>
            <a:r>
              <a:t>PARENT’S / GUARDIAN’S OFFICIAL CONSENT 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48840"/>
            <a:ext cx="1018001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E2923"/>
                </a:solidFill>
                <a:latin typeface="Arial"/>
              </a:defRPr>
            </a:pPr>
            <a:r>
              <a:t>I, _______________________________________, parent/guardian of _______________________________________,</a:t>
            </a:r>
            <a:br/>
            <a:r>
              <a:t>student of BS [HM / TM]  Year &amp; Section: ____________, hereby grant permission for my child to attend and participate in the official campus conference:</a:t>
            </a:r>
          </a:p>
          <a:p>
            <a:pPr>
              <a:spcBef>
                <a:spcPts val="400"/>
              </a:spcBef>
              <a:defRPr sz="1050" b="1">
                <a:solidFill>
                  <a:srgbClr val="1B4332"/>
                </a:solidFill>
                <a:latin typeface="Arial"/>
              </a:defRPr>
            </a:pPr>
            <a:r>
              <a:t>• Event Name: PECS 2026: Regional Conference on Sustainable Tourism &amp; Culinary Innovation</a:t>
            </a:r>
          </a:p>
          <a:p>
            <a:pPr>
              <a:spcBef>
                <a:spcPts val="400"/>
              </a:spcBef>
              <a:defRPr sz="1050" b="1">
                <a:solidFill>
                  <a:srgbClr val="1B4332"/>
                </a:solidFill>
                <a:latin typeface="Arial"/>
              </a:defRPr>
            </a:pPr>
            <a:r>
              <a:t>• Date &amp; Operational Time: September 17, 2026 | 7:00 AM – 5:00 PM (Including ingress, plenary sessions, and egress)</a:t>
            </a:r>
          </a:p>
          <a:p>
            <a:pPr>
              <a:spcBef>
                <a:spcPts val="400"/>
              </a:spcBef>
              <a:defRPr sz="1050" b="1">
                <a:solidFill>
                  <a:srgbClr val="1B4332"/>
                </a:solidFill>
                <a:latin typeface="Arial"/>
              </a:defRPr>
            </a:pPr>
            <a:r>
              <a:t>• Official Venue: PHINMA-University of Pangasinan Gymnasium, Arellano Street, Dagupan City</a:t>
            </a:r>
          </a:p>
          <a:p>
            <a:pPr>
              <a:spcBef>
                <a:spcPts val="800"/>
              </a:spcBef>
              <a:defRPr sz="1050" i="1">
                <a:solidFill>
                  <a:srgbClr val="1E2923"/>
                </a:solidFill>
                <a:latin typeface="Georgia"/>
              </a:defRPr>
            </a:pPr>
            <a:r>
              <a:t>I understand that this event fulfills academic criteria for BAM 205 (MICE) and that university safety and hall protocols will be strictly maintained by faculty supervisors.</a:t>
            </a:r>
          </a:p>
          <a:p>
            <a:br/>
            <a:pPr>
              <a:spcBef>
                <a:spcPts val="1000"/>
              </a:spcBef>
              <a:defRPr sz="1100" b="1">
                <a:solidFill>
                  <a:srgbClr val="1E2923"/>
                </a:solidFill>
                <a:latin typeface="Arial"/>
              </a:defRPr>
            </a:pPr>
            <a:r>
              <a:t>__________________________________________________               Date: ________________________</a:t>
            </a:r>
            <a:br/>
            <a:r>
              <a:t>Parent / Guardian Signature over Printed Name</a:t>
            </a:r>
          </a:p>
        </p:txBody>
      </p:sp>
    </p:spTree>
  </p:cSld>
  <p:clrMapOvr>
    <a:masterClrMapping/>
  </p:clrMapOvr>
  <p:transition spd="fast">
    <p:push dir="r"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7280" y="731520"/>
            <a:ext cx="3291840" cy="411480"/>
          </a:xfrm>
          <a:prstGeom prst="round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CONCLUSION &amp;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28016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D4AF37"/>
                </a:solidFill>
                <a:latin typeface="Georgia"/>
              </a:defRPr>
            </a:pPr>
            <a:r>
              <a:t>Ready to Deliver an Exemplary MICE Experience</a:t>
            </a:r>
          </a:p>
          <a:p>
            <a:pPr>
              <a:spcBef>
                <a:spcPts val="400"/>
              </a:spcBef>
              <a:defRPr sz="1400">
                <a:solidFill>
                  <a:srgbClr val="F8F9FA"/>
                </a:solidFill>
                <a:latin typeface="Georgia"/>
              </a:defRPr>
            </a:pPr>
            <a:r>
              <a:t>PECS 2026 bridges academic rigor with regional hospitality excellence, providing BAM 205 students with hands-on event execution mastery.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2651760"/>
            <a:ext cx="3108960" cy="2743200"/>
          </a:xfrm>
          <a:prstGeom prst="roundRect">
            <a:avLst/>
          </a:prstGeom>
          <a:solidFill>
            <a:srgbClr val="1B4332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2834640"/>
            <a:ext cx="28346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4AF37"/>
                </a:solidFill>
                <a:latin typeface="Georgia"/>
              </a:defRPr>
            </a:pPr>
            <a:r>
              <a:t>🏛️ Institutional Impact</a:t>
            </a:r>
          </a:p>
          <a:p>
            <a:pPr>
              <a:spcBef>
                <a:spcPts val="600"/>
              </a:spcBef>
              <a:defRPr sz="1050">
                <a:solidFill>
                  <a:srgbClr val="F8F9FA"/>
                </a:solidFill>
                <a:latin typeface="Arial"/>
              </a:defRPr>
            </a:pPr>
            <a:r>
              <a:t>Positions PHINMA University of Pangasinan CHTM as a regional center of excellence for eco-tourism research and culinary heritage preservation.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2651760"/>
            <a:ext cx="3108960" cy="2743200"/>
          </a:xfrm>
          <a:prstGeom prst="roundRect">
            <a:avLst/>
          </a:prstGeom>
          <a:solidFill>
            <a:srgbClr val="1B4332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2834640"/>
            <a:ext cx="28346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4AF37"/>
                </a:solidFill>
                <a:latin typeface="Georgia"/>
              </a:defRPr>
            </a:pPr>
            <a:r>
              <a:t>📈 Student Learning Outcomes</a:t>
            </a:r>
          </a:p>
          <a:p>
            <a:pPr>
              <a:spcBef>
                <a:spcPts val="600"/>
              </a:spcBef>
              <a:defRPr sz="1050">
                <a:solidFill>
                  <a:srgbClr val="F8F9FA"/>
                </a:solidFill>
                <a:latin typeface="Arial"/>
              </a:defRPr>
            </a:pPr>
            <a:r>
              <a:t>Demonstrates end-to-end conference management competencies: finance, logistics, AV production, speaker hospitality, and secretariat workflows.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2651760"/>
            <a:ext cx="3108960" cy="2743200"/>
          </a:xfrm>
          <a:prstGeom prst="roundRect">
            <a:avLst/>
          </a:prstGeom>
          <a:solidFill>
            <a:srgbClr val="1B4332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1000" y="2834640"/>
            <a:ext cx="28346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4AF37"/>
                </a:solidFill>
                <a:latin typeface="Georgia"/>
              </a:defRPr>
            </a:pPr>
            <a:r>
              <a:t>🤝 Community &amp; Industry Link</a:t>
            </a:r>
          </a:p>
          <a:p>
            <a:pPr>
              <a:spcBef>
                <a:spcPts val="600"/>
              </a:spcBef>
              <a:defRPr sz="1050">
                <a:solidFill>
                  <a:srgbClr val="F8F9FA"/>
                </a:solidFill>
                <a:latin typeface="Arial"/>
              </a:defRPr>
            </a:pPr>
            <a:r>
              <a:t>Creates actionable partnerships between academia, local government units (LGUs), municipal tourism officers, and regional hospitality stakeholders.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66928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Georgia"/>
              </a:defRPr>
            </a:pPr>
            <a:r>
              <a:t>Thank you! We welcome questions, recommendations, and formal approval.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