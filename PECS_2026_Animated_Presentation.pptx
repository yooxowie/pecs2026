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411480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BAM 205 • MICE EVENT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4AF37"/>
                </a:solidFill>
                <a:latin typeface="Georgia"/>
              </a:defRPr>
            </a:pPr>
            <a:r>
              <a:t>PECS 2026</a:t>
            </a:r>
          </a:p>
          <a:p>
            <a:pPr>
              <a:spcBef>
                <a:spcPts val="500"/>
              </a:spcBef>
              <a:defRPr sz="2800" b="1">
                <a:solidFill>
                  <a:srgbClr val="FFFFFF"/>
                </a:solidFill>
                <a:latin typeface="Georgia"/>
              </a:defRPr>
            </a:pPr>
            <a:r>
              <a:t>Pangasinan Eco-Haven &amp; Culinary Showcase</a:t>
            </a:r>
          </a:p>
          <a:p>
            <a:pPr>
              <a:spcBef>
                <a:spcPts val="800"/>
              </a:spcBef>
              <a:defRPr sz="1500" i="1">
                <a:solidFill>
                  <a:srgbClr val="F3DE8A"/>
                </a:solidFill>
                <a:latin typeface="Georgia"/>
              </a:defRPr>
            </a:pPr>
            <a:r>
              <a:t>Regional Conference on Sustainable Tourism &amp; Heritage Culinary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383280"/>
            <a:ext cx="9875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657600"/>
            <a:ext cx="3108960" cy="146304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749039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📅 DATE &amp; TIME</a:t>
            </a:r>
          </a:p>
          <a:p>
            <a:pPr>
              <a:spcBef>
                <a:spcPts val="400"/>
              </a:spcBef>
              <a:defRPr sz="1100">
                <a:solidFill>
                  <a:srgbClr val="F8F9FA"/>
                </a:solidFill>
                <a:latin typeface="Arial"/>
              </a:defRPr>
            </a:pPr>
            <a:r>
              <a:t>Thursday, September 17, 2026</a:t>
            </a:r>
            <a:br/>
            <a:r>
              <a:t>8:00 AM – 12:00 NN (Morning Plenary)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657600"/>
            <a:ext cx="3108960" cy="146304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749039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📍 VENUE</a:t>
            </a:r>
          </a:p>
          <a:p>
            <a:pPr>
              <a:spcBef>
                <a:spcPts val="400"/>
              </a:spcBef>
              <a:defRPr sz="1100">
                <a:solidFill>
                  <a:srgbClr val="F8F9FA"/>
                </a:solidFill>
                <a:latin typeface="Arial"/>
              </a:defRPr>
            </a:pPr>
            <a:r>
              <a:t>PHINMA-University of Pangasinan</a:t>
            </a:r>
            <a:br/>
            <a:r>
              <a:t>Gymnasium, Dagupan 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657600"/>
            <a:ext cx="3108960" cy="146304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3749039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Arial"/>
              </a:defRPr>
            </a:pPr>
            <a:r>
              <a:t>👥 AUDIENCE</a:t>
            </a:r>
          </a:p>
          <a:p>
            <a:pPr>
              <a:spcBef>
                <a:spcPts val="400"/>
              </a:spcBef>
              <a:defRPr sz="1100">
                <a:solidFill>
                  <a:srgbClr val="F8F9FA"/>
                </a:solidFill>
                <a:latin typeface="Arial"/>
              </a:defRPr>
            </a:pPr>
            <a:r>
              <a:t>500+ Seated Delegates</a:t>
            </a:r>
            <a:br/>
            <a:r>
              <a:t>BSHM, BSTM, Faculty &amp; VIPs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Georgia"/>
              </a:defRPr>
            </a:pPr>
            <a:r>
              <a:t>College of Hospitality and Tourism Management (CHTM)</a:t>
            </a:r>
          </a:p>
          <a:p>
            <a:pPr>
              <a:defRPr sz="1100">
                <a:solidFill>
                  <a:srgbClr val="5F6E64"/>
                </a:solidFill>
                <a:latin typeface="Arial"/>
              </a:defRPr>
            </a:pPr>
            <a:r>
              <a:t>PHINMA University of Pangasinan — Dagupan City, Pangasinan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1 &amp; 2 • EVENT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Executive Summary &amp; Event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12064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D4AF37"/>
                </a:solidFill>
                <a:latin typeface="Arial"/>
              </a:defRPr>
            </a:pPr>
            <a:r>
              <a:t>EVENT ESSENTIALS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Full Event Title:</a:t>
            </a:r>
          </a:p>
          <a:p>
            <a:pPr>
              <a:defRPr sz="1100">
                <a:solidFill>
                  <a:srgbClr val="1E2923"/>
                </a:solidFill>
                <a:latin typeface="Arial"/>
              </a:defRPr>
            </a:pPr>
            <a:r>
              <a:t>PECS 2026: Pangasinan Eco-Haven &amp; Culinary Showcase</a:t>
            </a:r>
          </a:p>
          <a:p>
            <a:pPr>
              <a:spcBef>
                <a:spcPts val="8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Official Subtitle:</a:t>
            </a:r>
          </a:p>
          <a:p>
            <a:pPr>
              <a:defRPr sz="1100">
                <a:solidFill>
                  <a:srgbClr val="1E2923"/>
                </a:solidFill>
                <a:latin typeface="Arial"/>
              </a:defRPr>
            </a:pPr>
            <a:r>
              <a:t>Regional Conference on Sustainable Tourism &amp; Heritage Culinary Innovation</a:t>
            </a:r>
          </a:p>
          <a:p>
            <a:pPr>
              <a:spcBef>
                <a:spcPts val="8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Course Alignment:</a:t>
            </a:r>
          </a:p>
          <a:p>
            <a:pPr>
              <a:defRPr sz="1100">
                <a:solidFill>
                  <a:srgbClr val="1E2923"/>
                </a:solidFill>
                <a:latin typeface="Arial"/>
              </a:defRPr>
            </a:pPr>
            <a:r>
              <a:t>BAM 205: Meetings, Incentives, Conferences, and Exhibitions (MICE)</a:t>
            </a:r>
          </a:p>
          <a:p>
            <a:pPr>
              <a:spcBef>
                <a:spcPts val="8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Academic Host:</a:t>
            </a:r>
          </a:p>
          <a:p>
            <a:pPr>
              <a:defRPr sz="1100">
                <a:solidFill>
                  <a:srgbClr val="1E2923"/>
                </a:solidFill>
                <a:latin typeface="Arial"/>
              </a:defRPr>
            </a:pPr>
            <a:r>
              <a:t>College of Hospitality and Tourism Management (CHTM), PHINMA University of Pangasinan</a:t>
            </a:r>
          </a:p>
          <a:p>
            <a:pPr>
              <a:spcBef>
                <a:spcPts val="8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Event Classification:</a:t>
            </a:r>
          </a:p>
          <a:p>
            <a:pPr>
              <a:defRPr sz="1100">
                <a:solidFill>
                  <a:srgbClr val="1E2923"/>
                </a:solidFill>
                <a:latin typeface="Arial"/>
              </a:defRPr>
            </a:pPr>
            <a:r>
              <a:t>Academic &amp; Professional Conference (MICE Industry Standard)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21208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D4AF37"/>
                </a:solidFill>
                <a:latin typeface="Arial"/>
              </a:defRPr>
            </a:pPr>
            <a:r>
              <a:t>STRATEGIC PURPOSE &amp;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A9D8F"/>
                </a:solidFill>
                <a:latin typeface="Georgia"/>
              </a:defRPr>
            </a:pPr>
            <a:r>
              <a:t>🌿 Coastal Eco-Tourism Frameworks</a:t>
            </a:r>
          </a:p>
          <a:p>
            <a:pPr>
              <a:spcBef>
                <a:spcPts val="3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Keynote by Ms. Maria Luisa A. Elduayan on carrying capacity and shoreline sustainability in Pangasinan coastal destinations.</a:t>
            </a:r>
          </a:p>
          <a:p>
            <a:pPr>
              <a:spcBef>
                <a:spcPts val="1200"/>
              </a:spcBef>
              <a:defRPr b="1" sz="1300">
                <a:solidFill>
                  <a:srgbClr val="2A9D8F"/>
                </a:solidFill>
                <a:latin typeface="Georgia"/>
              </a:defRPr>
            </a:pPr>
            <a:r>
              <a:t>🍲 Gastronomy &amp; Culinary Heritage</a:t>
            </a:r>
          </a:p>
          <a:p>
            <a:pPr>
              <a:spcBef>
                <a:spcPts val="3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Keynote by Felice Prudente Sta. Maria on preserving authentic flavor profiles and integrating them into modern tourism.</a:t>
            </a:r>
          </a:p>
          <a:p>
            <a:pPr>
              <a:spcBef>
                <a:spcPts val="1200"/>
              </a:spcBef>
              <a:defRPr b="1" sz="1300">
                <a:solidFill>
                  <a:srgbClr val="2A9D8F"/>
                </a:solidFill>
                <a:latin typeface="Georgia"/>
              </a:defRPr>
            </a:pPr>
            <a:r>
              <a:t>🎓 Interactive Synthesis &amp; Dialogue</a:t>
            </a:r>
          </a:p>
          <a:p>
            <a:pPr>
              <a:spcBef>
                <a:spcPts val="3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Multi-stakeholder Q&amp;A, faculty synthesis connecting food systems with eco-tourism, and student networking.</a:t>
            </a:r>
          </a:p>
        </p:txBody>
      </p:sp>
    </p:spTree>
  </p:cSld>
  <p:clrMapOvr>
    <a:masterClrMapping/>
  </p:clrMapOvr>
  <p:transition spd="fast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3 • VISION &amp;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Theme &amp; Conference 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8655" cy="1188720"/>
          </a:xfrm>
          <a:prstGeom prst="roundRect">
            <a:avLst/>
          </a:prstGeom>
          <a:solidFill>
            <a:srgbClr val="1B433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D4AF37"/>
                </a:solidFill>
                <a:latin typeface="Arial"/>
              </a:defRPr>
            </a:pPr>
            <a:r>
              <a:t>OFFICIAL CONFERENCE THEME</a:t>
            </a:r>
          </a:p>
          <a:p>
            <a:pPr>
              <a:spcBef>
                <a:spcPts val="300"/>
              </a:spcBef>
              <a:defRPr b="1" sz="1500">
                <a:solidFill>
                  <a:srgbClr val="FFFFFF"/>
                </a:solidFill>
                <a:latin typeface="Georgia"/>
              </a:defRPr>
            </a:pPr>
            <a:r>
              <a:t>“Sustaining the Coastline: Strategies for Eco-Tourism Development and Heritage Culinary Preservation in Pangasinan”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3413455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3413455" cy="54864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Arial"/>
              </a:defRPr>
            </a:pPr>
            <a:r>
              <a:t>01. PLENARY KEYNOTE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30476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4332"/>
                </a:solidFill>
                <a:latin typeface="Georgia"/>
              </a:defRPr>
            </a:pPr>
            <a:r>
              <a:t>Ms. Maria Luisa A. Elduayan</a:t>
            </a:r>
          </a:p>
          <a:p>
            <a:pPr>
              <a:spcBef>
                <a:spcPts val="8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“Protecting Pangasinan’s Shorelines: Sustainable Eco-Tourism Strategies and Carrying Capacity in Coastal Destinations”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697480"/>
            <a:ext cx="3413455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697480"/>
            <a:ext cx="3413455" cy="54864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Arial"/>
              </a:defRPr>
            </a:pPr>
            <a:r>
              <a:t>02. PLENARY KEYNOTE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30476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4332"/>
                </a:solidFill>
                <a:latin typeface="Georgia"/>
              </a:defRPr>
            </a:pPr>
            <a:r>
              <a:t>Felice Prudente Sta. Maria</a:t>
            </a:r>
          </a:p>
          <a:p>
            <a:pPr>
              <a:spcBef>
                <a:spcPts val="8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“From Coastal Waters to Heritage Plates: Preserving Pangasinan’s Culinary Identity in Modern Gastronomy Tourism”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97480"/>
            <a:ext cx="3413455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697480"/>
            <a:ext cx="3413455" cy="54864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Arial"/>
              </a:defRPr>
            </a:pPr>
            <a:r>
              <a:t>03. SYNTHESIS &amp; DIALOGUE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30476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4332"/>
                </a:solidFill>
                <a:latin typeface="Georgia"/>
              </a:defRPr>
            </a:pPr>
            <a:r>
              <a:t>CHTM Faculty &amp; Delegates</a:t>
            </a:r>
          </a:p>
          <a:p>
            <a:pPr>
              <a:spcBef>
                <a:spcPts val="8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Interactive floor Q&amp;A open forum, synthesis session connecting food systems, and formal recognition ceremony.</a:t>
            </a:r>
          </a:p>
        </p:txBody>
      </p:sp>
    </p:spTree>
  </p:cSld>
  <p:clrMapOvr>
    <a:masterClrMapping/>
  </p:clrMapOvr>
  <p:transition spd="fast">
    <p:push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4 • DELEGATE &amp; SPEAKER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Target Audience &amp; Stakeholder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166360" cy="5486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D4AF37"/>
                </a:solidFill>
                <a:latin typeface="Arial"/>
              </a:defRPr>
            </a:pPr>
            <a:r>
              <a:t>PRIMARY AUDIENCE — DELEGATES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👤 Delegate Profile: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Undergraduate BSHM (Hospitality) and BSTM (Tourism) students, student researchers, and CHTM academic faculty.</a:t>
            </a:r>
          </a:p>
          <a:p>
            <a:pPr>
              <a:spcBef>
                <a:spcPts val="10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📊 Capacity &amp; Volume: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500+ Seated Delegates inside the UPang Gymnasium main floor.</a:t>
            </a:r>
          </a:p>
          <a:p>
            <a:pPr>
              <a:spcBef>
                <a:spcPts val="10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🎯 Critical Needs &amp; Expectations: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• Direct learning from national &amp; regional tourism experts</a:t>
            </a:r>
            <a:br/>
            <a:r>
              <a:t>• Peer academic interaction &amp; Q&amp;A participation</a:t>
            </a:r>
            <a:br/>
            <a:r>
              <a:t>• Complete conference kits (ID badge, notepad, program, tote bag, e-certificate)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371600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71600"/>
            <a:ext cx="5166360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Arial"/>
              </a:defRPr>
            </a:pPr>
            <a:r>
              <a:t>SECONDARY AUDIENCE — VIPs &amp; SPEAKERS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05740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🎖️ Featured Plenary Speakers: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Ms. Maria Luisa A. Elduayan (Coastal Eco-Tourism) and Felice Prudente Sta. Maria (Culinary Heritage Historian).</a:t>
            </a:r>
          </a:p>
          <a:p>
            <a:pPr>
              <a:spcBef>
                <a:spcPts val="10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📊 Panel &amp; Leadership: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Event Chairpersons, CHTM Leads, Faculty Moderators, and Reactor Panel.</a:t>
            </a:r>
          </a:p>
          <a:p>
            <a:pPr>
              <a:spcBef>
                <a:spcPts val="10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🎯 Critical Needs &amp; Expectations: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• Strict 40-min talk + 25-min interactive Q&amp;A execution</a:t>
            </a:r>
            <a:br/>
            <a:r>
              <a:t>• Stage AV, podium mic, confidence monitors &amp; roving floor mics</a:t>
            </a:r>
            <a:br/>
            <a:r>
              <a:t>• Dedicated VIP holding lounge, plated catering &amp; honoraria</a:t>
            </a:r>
          </a:p>
        </p:txBody>
      </p:sp>
    </p:spTree>
  </p:cSld>
  <p:clrMapOvr>
    <a:masterClrMapping/>
  </p:clrMapOvr>
  <p:transition spd="fast">
    <p:push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5 • MEASURABLE GOALS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SMART Event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694944" cy="694944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D4AF37"/>
                </a:solidFill>
                <a:latin typeface="Georgia"/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3990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SPECIFIC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Host a high-impact regional conference featuring 2 master keynotes (Ms. Maria Luisa A. Elduayan &amp; Felice Prudente Sta. Maria) and an interactive synthesis 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13432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404872"/>
            <a:ext cx="694944" cy="694944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  <a:latin typeface="Georgia"/>
              </a:defRPr>
            </a:pPr>
            <a: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86584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MEASURABLE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Achieve attendance of 500+ registered delegates and obtain completed digital feedback forms from at least 90% of attendees.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00984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392424"/>
            <a:ext cx="694944" cy="694944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D4AF37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74136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ACHIEVABLE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Secure esteemed regional leaders and renowned culinary authors utilizing the university's central gymnasium facility.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88536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694944" cy="694944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  <a:latin typeface="Georgia"/>
              </a:defRPr>
            </a:pPr>
            <a: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36168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RELEVANT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Fulfill BAM 205 conference management competencies including program structuring, AV staging, speaker relations, and delegate coordination.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76088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5367528"/>
            <a:ext cx="694944" cy="694944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D4AF37"/>
                </a:solidFill>
                <a:latin typeface="Georgia"/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349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TIME-BOUND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Execute the entire 11-segment plenary program smoothly from 8:00 AM to 12:00 NN on Thursday, September 17, 2026.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6 • EVENT TIMING &amp;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Date, Venue &amp; Facilities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4114800" cy="5486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D4AF37"/>
                </a:solidFill>
                <a:latin typeface="Arial"/>
              </a:defRPr>
            </a:pPr>
            <a:r>
              <a:t>EVENT LOGISTICS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Arial"/>
              </a:defRPr>
            </a:pPr>
            <a:r>
              <a:t>🗓️ Proposed Date: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Thursday, September 17, 2026</a:t>
            </a:r>
          </a:p>
          <a:p>
            <a:pPr>
              <a:spcBef>
                <a:spcPts val="8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⏰ Operational Hours: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8:00 AM – 12:00 NN (Morning Plenary)</a:t>
            </a:r>
          </a:p>
          <a:p>
            <a:pPr>
              <a:spcBef>
                <a:spcPts val="8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📍 Official Venue: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PHINMA University of Pangasinan Gymnasium</a:t>
            </a:r>
          </a:p>
          <a:p>
            <a:pPr>
              <a:spcBef>
                <a:spcPts val="8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📌 Location: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Arellano Street, Dagupan City, Pangasinan</a:t>
            </a:r>
          </a:p>
          <a:p>
            <a:pPr>
              <a:spcBef>
                <a:spcPts val="800"/>
              </a:spcBef>
              <a:defRPr b="1" sz="1200">
                <a:solidFill>
                  <a:srgbClr val="1B4332"/>
                </a:solidFill>
                <a:latin typeface="Arial"/>
              </a:defRPr>
            </a:pPr>
            <a:r>
              <a:t>🏛️ Facility Type:</a:t>
            </a:r>
          </a:p>
          <a:p>
            <a:pPr>
              <a:spcBef>
                <a:spcPts val="200"/>
              </a:spcBef>
              <a:defRPr sz="1100">
                <a:solidFill>
                  <a:srgbClr val="1E2923"/>
                </a:solidFill>
                <a:latin typeface="Arial"/>
              </a:defRPr>
            </a:pPr>
            <a:r>
              <a:t>University Indoor Sports &amp; Assembly Complex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544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Georgia"/>
              </a:defRPr>
            </a:pPr>
            <a:r>
              <a:t>👥 500+ Seating Capacity</a:t>
            </a:r>
          </a:p>
          <a:p>
            <a:pPr>
              <a:spcBef>
                <a:spcPts val="6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Ample floor and bleacher capacity to seat 500+ delegates comfortably while maintaining clear aisleways and safety egress.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37160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5544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Georgia"/>
              </a:defRPr>
            </a:pPr>
            <a:r>
              <a:t>🎤 Elevated Stage &amp; Backing</a:t>
            </a:r>
          </a:p>
          <a:p>
            <a:pPr>
              <a:spcBef>
                <a:spcPts val="6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Dedicated high main stage providing complete sightlines for plenary keynote lectures, slide projections, and ceremonies.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84048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40233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Georgia"/>
              </a:defRPr>
            </a:pPr>
            <a:r>
              <a:t>🔊 Acoustic &amp; AV Setup</a:t>
            </a:r>
          </a:p>
          <a:p>
            <a:pPr>
              <a:spcBef>
                <a:spcPts val="6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Integrated university sound reinforcement system, wireless lapel microphones, and LED/projector connectivity for crystal-clear talks.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384048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40233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4332"/>
                </a:solidFill>
                <a:latin typeface="Georgia"/>
              </a:defRPr>
            </a:pPr>
            <a:r>
              <a:t>🚪 Dedicated Foyer &amp; VIP Zone</a:t>
            </a:r>
          </a:p>
          <a:p>
            <a:pPr>
              <a:spcBef>
                <a:spcPts val="6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Spacious foyer for orderly multi-lane kit distribution, and secure air-conditioned VIP lounge for guest speaker dining.</a:t>
            </a:r>
          </a:p>
        </p:txBody>
      </p:sp>
    </p:spTree>
  </p:cSld>
  <p:clrMapOvr>
    <a:masterClrMapping/>
  </p:clrMapOvr>
  <p:transition spd="fast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7 (PART 1) • SCHEDULE OF ACTIVITIES (08:00 AM – 10:05 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Program Flow: Part 1 — Opening &amp; Keynote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2588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943600"/>
                <a:gridCol w="2773375"/>
              </a:tblGrid>
              <a:tr h="69233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Activity / Session Title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Facilitator / Lead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8:00 AM – 8:30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On-Site Check-In &amp; Name Tag Distribution</a:t>
                      </a:r>
                    </a:p>
                    <a:p>
                      <a:r>
                        <a:t>Registration desks open at Gym foyer with kit issuance.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Registration Committee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8:30 AM – 8:40 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Doxology &amp; National Anthem</a:t>
                      </a:r>
                    </a:p>
                    <a:p>
                      <a:r>
                        <a:t>Formal invocation and Philippine National Anthem.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Program Committee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8:40 AM – 8:50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Welcome Address</a:t>
                      </a:r>
                    </a:p>
                    <a:p>
                      <a:r>
                        <a:t>Opening institutional remarks welcoming delegates and guests.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Event Chairperson / CHTM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8:50 AM – 9:00 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Opening Remarks &amp; Speaker Introduction</a:t>
                      </a:r>
                    </a:p>
                    <a:p>
                      <a:r>
                        <a:t>Contextual overview of PECS 2026 &amp; formal speaker citation.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Master of Ceremonies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9:00 AM – 9:40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Keynote 1: “Protecting Pangasinan’s Shorelines: Sustainable Eco-Tourism Strategies and Carrying Capacity in Coastal Destinations”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Ms. Maria Luisa A. Elduayan</a:t>
                      </a:r>
                    </a:p>
                    <a:p>
                      <a:r>
                        <a:t>(Provincial Tourism Officer)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9:40 AM – 10:05 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Interactive Q&amp;A Session</a:t>
                      </a:r>
                    </a:p>
                    <a:p>
                      <a:r>
                        <a:t>Floor microphones open for delegate inquiries to Keynote 1.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Moderator &amp; Delegates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7 (PART 2) • SCHEDULE OF ACTIVITIES (10:05 AM – 12:00 NN)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Program Flow: Part 2 — Keynote 2, Synthesis &amp; Closing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258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943600"/>
                <a:gridCol w="2773375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Activity / Session Title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Facilitator / Lead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10:05 AM – 10:45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Keynote 2: “From Coastal Waters to Heritage Plates: Preserving Pangasinan’s Culinary Identity in Modern Gastronomy Tourism”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Felice Prudente Sta. Maria</a:t>
                      </a:r>
                    </a:p>
                    <a:p>
                      <a:r>
                        <a:t>(Culinary Historian &amp; Author)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10:45 AM – 11:10 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Interactive Q&amp;A Session</a:t>
                      </a:r>
                    </a:p>
                    <a:p>
                      <a:r>
                        <a:t>Open floor exchange and discussions with Keynote 2.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Moderator &amp; Delegates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11:10 AM – 11:40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Synthesis Session: Aligning Eco-Tourism with Local Food Systems</a:t>
                      </a:r>
                    </a:p>
                    <a:p>
                      <a:r>
                        <a:t>Consolidating policy, hospitality practices, and research outputs.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CHTM Faculty Moderator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11:40 AM – 11:50 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Presentation of Tokens &amp; Certificates to Speakers</a:t>
                      </a:r>
                    </a:p>
                    <a:p>
                      <a:r>
                        <a:t>Conferment of Plaques of Appreciation and gift baskets.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Event Chairperson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11:50 AM – 12:00 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Closing Remarks &amp; Official Group Photo</a:t>
                      </a:r>
                    </a:p>
                    <a:p>
                      <a:r>
                        <a:t>Formal adjournment of PECS 2026 followed by stage photo.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Organizers &amp; Attendees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E8F3E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5099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B4332"/>
                </a:solidFill>
                <a:latin typeface="Arial"/>
              </a:defRPr>
            </a:pPr>
            <a:r>
              <a:t>⏱️ Time Management Protocol:</a:t>
            </a:r>
          </a:p>
          <a:p>
            <a:pPr>
              <a:defRPr sz="950">
                <a:solidFill>
                  <a:srgbClr val="1E2923"/>
                </a:solidFill>
                <a:latin typeface="Arial"/>
              </a:defRPr>
            </a:pPr>
            <a:r>
              <a:t>Each keynote speaker has 40 minutes presentation + 25 minutes interactive Q&amp;A. Floor microphones and stage countdown monitors ensure strict adherence to the 12:00 NN adjournment.</a:t>
            </a:r>
          </a:p>
        </p:txBody>
      </p:sp>
    </p:spTree>
  </p:cSld>
  <p:clrMapOvr>
    <a:masterClrMapping/>
  </p:clrMapOvr>
  <p:transition spd="fast">
    <p:push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8 • COST BREAKDOWN &amp; FUNDING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Estimated Budget &amp; Financial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7132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356616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Expense Item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Estimated Cost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Notes / Details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Keynote Speaker Honoraria &amp;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₱15,000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Tokens of appreciation, local produce gift baskets, and honoraria for guest speakers.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Delegate Kits &amp; Printed Materials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₱20,000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Lanyards, printed ID badges, notepad kits, pens, and certificates for 500 delegates.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Venue Audio-Visual &amp; Stage Framing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₱15,000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Gymnasium stage LED wall/projector backdrop, wireless lapels, roving floor mics, and podium setup.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VIP &amp; Speaker Catering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4332"/>
                          </a:solidFill>
                          <a:latin typeface="Arial"/>
                        </a:defRPr>
                      </a:pPr>
                      <a:r>
                        <a:t>₱10,000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23"/>
                          </a:solidFill>
                          <a:latin typeface="Arial"/>
                        </a:defRPr>
                      </a:pPr>
                      <a:r>
                        <a:t>Plated lunch and AM snacks for invited guest speakers and panel moderators.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ESTIMATED BUDGET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D4AF37"/>
                          </a:solidFill>
                          <a:latin typeface="Arial"/>
                        </a:defRPr>
                      </a:pPr>
                      <a:r>
                        <a:t>₱60,000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Complete budget covering all 500 delegates and VIP speakers.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046720" y="1371600"/>
            <a:ext cx="3413455" cy="219456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047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Arial"/>
              </a:defRPr>
            </a:pPr>
            <a:r>
              <a:t>TOTAL BUDGET</a:t>
            </a:r>
          </a:p>
          <a:p>
            <a:pPr>
              <a:spcBef>
                <a:spcPts val="400"/>
              </a:spcBef>
              <a:defRPr sz="3200" b="1">
                <a:solidFill>
                  <a:srgbClr val="FFFFFF"/>
                </a:solidFill>
                <a:latin typeface="Georgia"/>
              </a:defRPr>
            </a:pPr>
            <a:r>
              <a:t>₱60,000</a:t>
            </a:r>
          </a:p>
          <a:p>
            <a:pPr>
              <a:spcBef>
                <a:spcPts val="400"/>
              </a:spcBef>
              <a:defRPr sz="1000">
                <a:solidFill>
                  <a:srgbClr val="F3DE8A"/>
                </a:solidFill>
                <a:latin typeface="Arial"/>
              </a:defRPr>
            </a:pPr>
            <a:r>
              <a:t>Cost per delegate: ~₱120 (Cost-efficient academic staging)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49039"/>
            <a:ext cx="34134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886200"/>
            <a:ext cx="30476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4332"/>
                </a:solidFill>
                <a:latin typeface="Arial"/>
              </a:defRPr>
            </a:pPr>
            <a:r>
              <a:t>FUNDING MECHANISM</a:t>
            </a:r>
          </a:p>
          <a:p>
            <a:pPr>
              <a:spcBef>
                <a:spcPts val="6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1. Student Conference Fees</a:t>
            </a:r>
            <a:br/>
            <a:r>
              <a:t>Covering physical kits, lanyards, and certificates.</a:t>
            </a:r>
            <a:br/>
            <a:br/>
            <a:r>
              <a:t>2. CHTM Departmental Support</a:t>
            </a:r>
            <a:br/>
            <a:r>
              <a:t>Subsidizing speaker tokens, stage backdrops, and technical AV assets.</a:t>
            </a:r>
          </a:p>
        </p:txBody>
      </p:sp>
    </p:spTree>
  </p:cSld>
  <p:clrMapOvr>
    <a:masterClrMapping/>
  </p:clrMapOvr>
  <p:transition spd="fast">
    <p:push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9 • DELEGATE ACQUISITION &amp;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Marketing &amp; Promotional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413455" cy="5486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4AF37"/>
                </a:solidFill>
                <a:latin typeface="Arial"/>
              </a:defRPr>
            </a:pPr>
            <a:r>
              <a:t>DIGITAL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476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4332"/>
                </a:solidFill>
                <a:latin typeface="Georgia"/>
              </a:defRPr>
            </a:pPr>
            <a:r>
              <a:t>📱 Social Media Teaser Campaign</a:t>
            </a:r>
          </a:p>
          <a:p>
            <a:pPr>
              <a:spcBef>
                <a:spcPts val="8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Launch targeted countdown graphics and keynote speaker spot-highlights (Ms. Elduayan &amp; Ms. Sta. Maria) across CHTM Facebook &amp; Instagram starting Sept 7, 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40680"/>
            <a:ext cx="3047695" cy="502920"/>
          </a:xfrm>
          <a:prstGeom prst="roundRect">
            <a:avLst/>
          </a:prstGeom>
          <a:solidFill>
            <a:srgbClr val="E8F3E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B4332"/>
                </a:solidFill>
                <a:latin typeface="Arial"/>
              </a:defRPr>
            </a:pPr>
            <a:r>
              <a:t>Timeline: Sept 7 – Sept 17,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413455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Arial"/>
              </a:defRPr>
            </a:pPr>
            <a:r>
              <a:t>PHYSICAL TOUCHPOINTS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0476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4332"/>
                </a:solidFill>
                <a:latin typeface="Georgia"/>
              </a:defRPr>
            </a:pPr>
            <a:r>
              <a:t>📌 Campus Bulletin Displays</a:t>
            </a:r>
          </a:p>
          <a:p>
            <a:pPr>
              <a:spcBef>
                <a:spcPts val="8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Mount full-color promotional posters, QR code registration infographics, and program agendas across CHTM bulletin boards and high-traffic gym walkways.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440680"/>
            <a:ext cx="3047695" cy="502920"/>
          </a:xfrm>
          <a:prstGeom prst="roundRect">
            <a:avLst/>
          </a:prstGeom>
          <a:solidFill>
            <a:srgbClr val="E8F3E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B4332"/>
                </a:solidFill>
                <a:latin typeface="Arial"/>
              </a:defRPr>
            </a:pPr>
            <a:r>
              <a:t>Coverage: High-foot-traffic halls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3413455" cy="5486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4AF37"/>
                </a:solidFill>
                <a:latin typeface="Arial"/>
              </a:defRPr>
            </a:pPr>
            <a:r>
              <a:t>DIRECT OUTREACH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0476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4332"/>
                </a:solidFill>
                <a:latin typeface="Georgia"/>
              </a:defRPr>
            </a:pPr>
            <a:r>
              <a:t>🗣️ Class-to-Class Caravan</a:t>
            </a:r>
          </a:p>
          <a:p>
            <a:pPr>
              <a:spcBef>
                <a:spcPts val="8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Conduct synchronized 3-minute promotional walkthroughs across all BSHM and BSTM lecture classes to explain conference learning outcomes and drive registration.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5440680"/>
            <a:ext cx="3047695" cy="502920"/>
          </a:xfrm>
          <a:prstGeom prst="roundRect">
            <a:avLst/>
          </a:prstGeom>
          <a:solidFill>
            <a:srgbClr val="E8F3E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B4332"/>
                </a:solidFill>
                <a:latin typeface="Arial"/>
              </a:defRPr>
            </a:pPr>
            <a:r>
              <a:t>Audience: 500+ BSHM/BSTM Students</a:t>
            </a:r>
          </a:p>
        </p:txBody>
      </p:sp>
    </p:spTree>
  </p:cSld>
  <p:clrMapOvr>
    <a:masterClrMapping/>
  </p:clrMapOvr>
  <p:transition spd="fast">
    <p:push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10 • BAM 205 ORGANIZING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Organizational Structure &amp; Committee Roles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35608"/>
            <a:ext cx="2926080" cy="658368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4AF37"/>
                </a:solidFill>
                <a:latin typeface="Georgia"/>
              </a:defRPr>
            </a:pPr>
            <a:r>
              <a:t>🏆 Conference Director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EXECUTIVE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417320"/>
            <a:ext cx="7315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23"/>
                </a:solidFill>
                <a:latin typeface="Arial"/>
              </a:defRPr>
            </a:pPr>
            <a:r>
              <a:t>Leads overall event management, approves presentation decks, enforces strict time control, and coordinates institutional approvals with CHTM Administration.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13432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423160"/>
            <a:ext cx="2926080" cy="658368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4AF37"/>
                </a:solidFill>
                <a:latin typeface="Georgia"/>
              </a:defRPr>
            </a:pPr>
            <a:r>
              <a:t>🎬 Stage &amp; Program Lead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PRODUCTION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04872"/>
            <a:ext cx="7315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23"/>
                </a:solidFill>
                <a:latin typeface="Arial"/>
              </a:defRPr>
            </a:pPr>
            <a:r>
              <a:t>Manages main-stage cues, slide transitions, stage timer displays, audio prompts, and coordinates floor moderators during plenary Q&amp;A sessions.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00984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410712"/>
            <a:ext cx="2926080" cy="658368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4AF37"/>
                </a:solidFill>
                <a:latin typeface="Georgia"/>
              </a:defRPr>
            </a:pPr>
            <a:r>
              <a:t>📋 Secretariat &amp; Registration Lead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DELEGATE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92424"/>
            <a:ext cx="7315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23"/>
                </a:solidFill>
                <a:latin typeface="Arial"/>
              </a:defRPr>
            </a:pPr>
            <a:r>
              <a:t>Oversees delegate check-in at Gym foyer desks, physical kit distribution, issuance of digital certificates, and digital feedback form consolidation.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88536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398264"/>
            <a:ext cx="2926080" cy="658368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4AF37"/>
                </a:solidFill>
                <a:latin typeface="Georgia"/>
              </a:defRPr>
            </a:pPr>
            <a:r>
              <a:t>🤝 Speaker Relations Lead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VIP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379976"/>
            <a:ext cx="7315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23"/>
                </a:solidFill>
                <a:latin typeface="Arial"/>
              </a:defRPr>
            </a:pPr>
            <a:r>
              <a:t>Coordinates travel logistics, VIP holding room hospitality, honoraria distribution, and dedicated stage escorting for keynote speakers.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76088"/>
            <a:ext cx="10728655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5385816"/>
            <a:ext cx="2926080" cy="658368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4AF37"/>
                </a:solidFill>
                <a:latin typeface="Georgia"/>
              </a:defRPr>
            </a:pPr>
            <a:r>
              <a:t>🎛️ Technical &amp; AV Lead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INFRASTRUCTURE &amp; 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367528"/>
            <a:ext cx="73152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23"/>
                </a:solidFill>
                <a:latin typeface="Arial"/>
              </a:defRPr>
            </a:pPr>
            <a:r>
              <a:t>Manages Gymnasium audio levels, main LED backdrop screen inputs, stage lighting controls, livestreaming, and session recording gear.</a:t>
            </a:r>
          </a:p>
        </p:txBody>
      </p:sp>
    </p:spTree>
  </p:cSld>
  <p:clrMapOvr>
    <a:masterClrMapping/>
  </p:clrMapOvr>
  <p:transition spd="fast">
    <p:push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11 • BRAND AESTHETIC &amp; STAGE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Visual Identity &amp; Environmental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514600" cy="164592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  <a:latin typeface="Georgia"/>
              </a:defRPr>
            </a:pPr>
            <a:r>
              <a:t>Coastal Forest Green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#1B4332 • Primary Brand Color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2514600" cy="164592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4332"/>
                </a:solidFill>
                <a:latin typeface="Georgia"/>
              </a:defRPr>
            </a:pPr>
            <a:r>
              <a:t>Harvest Gold</a:t>
            </a:r>
          </a:p>
          <a:p>
            <a:pPr>
              <a:spcBef>
                <a:spcPts val="300"/>
              </a:spcBef>
              <a:defRPr sz="900">
                <a:solidFill>
                  <a:srgbClr val="1B4332"/>
                </a:solidFill>
                <a:latin typeface="Arial"/>
              </a:defRPr>
            </a:pPr>
            <a:r>
              <a:t>#D4AF37 • Primary Accent Color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2514600" cy="164592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  <a:latin typeface="Georgia"/>
              </a:defRPr>
            </a:pPr>
            <a:r>
              <a:t>Ocean Aqua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#2A9D8F • Secondary Accent Color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25880"/>
            <a:ext cx="251460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E2923"/>
                </a:solidFill>
                <a:latin typeface="Georgia"/>
              </a:defRPr>
            </a:pPr>
            <a:r>
              <a:t>Soft Sand</a:t>
            </a:r>
          </a:p>
          <a:p>
            <a:pPr>
              <a:spcBef>
                <a:spcPts val="300"/>
              </a:spcBef>
              <a:defRPr sz="900">
                <a:solidFill>
                  <a:srgbClr val="1E2923"/>
                </a:solidFill>
                <a:latin typeface="Arial"/>
              </a:defRPr>
            </a:pPr>
            <a:r>
              <a:t>#F8F9FA • Neutral Foundation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1663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516636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4AF37"/>
                </a:solidFill>
                <a:latin typeface="Arial"/>
              </a:defRPr>
            </a:pPr>
            <a:r>
              <a:t>OFFICIAL EVENT EMBLEM &amp; LOGO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4800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B4332"/>
                </a:solidFill>
                <a:latin typeface="Arial"/>
              </a:defRPr>
            </a:pPr>
            <a:r>
              <a:t>Emblem Structure:</a:t>
            </a:r>
          </a:p>
          <a:p>
            <a:pPr>
              <a:defRPr sz="1000">
                <a:solidFill>
                  <a:srgbClr val="1E2923"/>
                </a:solidFill>
                <a:latin typeface="Arial"/>
              </a:defRPr>
            </a:pPr>
            <a:r>
              <a:t>A circular crest featuring a stylized green leaf merging seamlessly with an ocean wave, framing a minimalist golden chef’s toque at the center.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Symbolic Meaning:</a:t>
            </a:r>
          </a:p>
          <a:p>
            <a:pPr>
              <a:defRPr sz="1000">
                <a:solidFill>
                  <a:srgbClr val="1E2923"/>
                </a:solidFill>
                <a:latin typeface="Arial"/>
              </a:defRPr>
            </a:pPr>
            <a:r>
              <a:t>Unifies environmental coastal conservation (leaf &amp; wave) with regional gastronomic innovation (chef's toque).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Typography Hierarchy:</a:t>
            </a:r>
          </a:p>
          <a:p>
            <a:pPr>
              <a:defRPr sz="1000">
                <a:solidFill>
                  <a:srgbClr val="1E2923"/>
                </a:solidFill>
                <a:latin typeface="Arial"/>
              </a:defRPr>
            </a:pPr>
            <a:r>
              <a:t>High-impact serif typeface for 'PECS 2026' paired with a modern sans-serif subtext for regional clarity.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154680"/>
            <a:ext cx="51663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3154680"/>
            <a:ext cx="516636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4AF37"/>
                </a:solidFill>
                <a:latin typeface="Arial"/>
              </a:defRPr>
            </a:pPr>
            <a:r>
              <a:t>STAGE SETUP &amp; DELEGATE COLLATERAL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703320"/>
            <a:ext cx="4800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A9D8F"/>
                </a:solidFill>
                <a:latin typeface="Arial"/>
              </a:defRPr>
            </a:pPr>
            <a:r>
              <a:t>Gymnasium Stage Setup:</a:t>
            </a:r>
          </a:p>
          <a:p>
            <a:pPr>
              <a:defRPr sz="1000">
                <a:solidFill>
                  <a:srgbClr val="1E2923"/>
                </a:solidFill>
                <a:latin typeface="Arial"/>
              </a:defRPr>
            </a:pPr>
            <a:r>
              <a:t>16:9 LED wall backdrop in Coastal Forest Green with Harvest Gold accents; sleek acrylic podium with official emblem, flanked by native potted palms.</a:t>
            </a:r>
          </a:p>
          <a:p>
            <a:pPr>
              <a:spcBef>
                <a:spcPts val="600"/>
              </a:spcBef>
              <a:defRPr b="1" sz="1100">
                <a:solidFill>
                  <a:srgbClr val="2A9D8F"/>
                </a:solidFill>
                <a:latin typeface="Arial"/>
              </a:defRPr>
            </a:pPr>
            <a:r>
              <a:t>Badges &amp; Lanyards:</a:t>
            </a:r>
          </a:p>
          <a:p>
            <a:pPr>
              <a:defRPr sz="1000">
                <a:solidFill>
                  <a:srgbClr val="1E2923"/>
                </a:solidFill>
                <a:latin typeface="Arial"/>
              </a:defRPr>
            </a:pPr>
            <a:r>
              <a:t>Dark green lanyards paired with color-coded ID badges (Green for Delegates, Gold for Committee, Blue for Keynote Speakers/VIPs).</a:t>
            </a:r>
          </a:p>
          <a:p>
            <a:pPr>
              <a:spcBef>
                <a:spcPts val="600"/>
              </a:spcBef>
              <a:defRPr b="1" sz="1100">
                <a:solidFill>
                  <a:srgbClr val="2A9D8F"/>
                </a:solidFill>
                <a:latin typeface="Arial"/>
              </a:defRPr>
            </a:pPr>
            <a:r>
              <a:t>Eco Conference Tote Kits:</a:t>
            </a:r>
          </a:p>
          <a:p>
            <a:pPr>
              <a:defRPr sz="1000">
                <a:solidFill>
                  <a:srgbClr val="1E2923"/>
                </a:solidFill>
                <a:latin typeface="Arial"/>
              </a:defRPr>
            </a:pPr>
            <a:r>
              <a:t>Canvas bags containing branded notepads, pens, program booklets, and QR access cards for digital verified certificates.</a:t>
            </a:r>
          </a:p>
        </p:txBody>
      </p:sp>
    </p:spTree>
  </p:cSld>
  <p:clrMapOvr>
    <a:masterClrMapping/>
  </p:clrMapOvr>
  <p:transition spd="fast">
    <p:push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12 (PART 1) • ADMINISTRATIVE COMMUNICATION LETTERS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Letter 1: Gymnasium Reservation &amp; Facility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84048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4AF37"/>
                </a:solidFill>
                <a:latin typeface="Arial"/>
              </a:defRPr>
            </a:pPr>
            <a:r>
              <a:t>TRANSMITTAL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B4332"/>
                </a:solidFill>
                <a:latin typeface="Arial"/>
              </a:defRPr>
            </a:pPr>
            <a:r>
              <a:t>📅 Date of Transmittal: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September 2, 2026</a:t>
            </a:r>
          </a:p>
          <a:p>
            <a:pPr>
              <a:spcBef>
                <a:spcPts val="8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📬 Recipient Office: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The Office of the VPAA / Campus Facilities &amp; Athletics Office, PHINMA-UPang</a:t>
            </a:r>
          </a:p>
          <a:p>
            <a:pPr>
              <a:spcBef>
                <a:spcPts val="8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📌 Subject Matter: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Venue Reservation, Technical Support &amp; Facility Access for PECS 2026</a:t>
            </a:r>
          </a:p>
          <a:p>
            <a:pPr>
              <a:spcBef>
                <a:spcPts val="8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✍️ Signatory Authority:</a:t>
            </a:r>
          </a:p>
          <a:p>
            <a:pPr>
              <a:spcBef>
                <a:spcPts val="2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Conference Director, PECS 2026 (CHTM BAM 205)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71600"/>
            <a:ext cx="670529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6705295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Arial"/>
              </a:defRPr>
            </a:pPr>
            <a:r>
              <a:t>OFFICIAL TRANSMITTAL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659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B4332"/>
                </a:solidFill>
                <a:latin typeface="Georgia"/>
              </a:defRPr>
            </a:pPr>
            <a:r>
              <a:t>Dear Administration,</a:t>
            </a:r>
          </a:p>
          <a:p>
            <a:pPr>
              <a:spcBef>
                <a:spcPts val="4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The CHTM BAM 205 class respectfully requests permission to reserve and utilize the PHINMA-University of Pangasinan Gymnasium for PECS 2026 on September 17, 2026, from 7:00 AM to 5:00 PM (inclusive of setup, operational hours, and teardown).</a:t>
            </a:r>
          </a:p>
          <a:p>
            <a:pPr>
              <a:spcBef>
                <a:spcPts val="400"/>
              </a:spcBef>
              <a:defRPr sz="1000" b="1">
                <a:solidFill>
                  <a:srgbClr val="1B4332"/>
                </a:solidFill>
                <a:latin typeface="Arial"/>
              </a:defRPr>
            </a:pPr>
            <a:r>
              <a:t>We also humbly request after-hours setup authorization for Sept 16, 2026 (until 7:00 PM) and technical support for:</a:t>
            </a:r>
          </a:p>
          <a:p>
            <a:pPr>
              <a:spcBef>
                <a:spcPts val="200"/>
              </a:spcBef>
              <a:defRPr sz="950">
                <a:solidFill>
                  <a:srgbClr val="1E2923"/>
                </a:solidFill>
                <a:latin typeface="Arial"/>
              </a:defRPr>
            </a:pPr>
            <a:r>
              <a:t>1. Main stage projector/LED screen integration with HDMI connectivity.</a:t>
            </a:r>
          </a:p>
          <a:p>
            <a:pPr>
              <a:spcBef>
                <a:spcPts val="200"/>
              </a:spcBef>
              <a:defRPr sz="950">
                <a:solidFill>
                  <a:srgbClr val="1E2923"/>
                </a:solidFill>
                <a:latin typeface="Arial"/>
              </a:defRPr>
            </a:pPr>
            <a:r>
              <a:t>2. Sound system setup: 1 podium mic, 4 wireless handheld mics, and 2 lapel mics.</a:t>
            </a:r>
          </a:p>
          <a:p>
            <a:pPr>
              <a:spcBef>
                <a:spcPts val="200"/>
              </a:spcBef>
              <a:defRPr sz="950">
                <a:solidFill>
                  <a:srgbClr val="1E2923"/>
                </a:solidFill>
                <a:latin typeface="Arial"/>
              </a:defRPr>
            </a:pPr>
            <a:r>
              <a:t>3. Stage podium, panel chairs, and 500 spectator chairs arranged theater-style.</a:t>
            </a:r>
          </a:p>
          <a:p>
            <a:pPr>
              <a:spcBef>
                <a:spcPts val="200"/>
              </a:spcBef>
              <a:defRPr sz="950">
                <a:solidFill>
                  <a:srgbClr val="1E2923"/>
                </a:solidFill>
                <a:latin typeface="Arial"/>
              </a:defRPr>
            </a:pPr>
            <a:r>
              <a:t>4. Full facility ventilation, cooling, and lighting support during operational hours.</a:t>
            </a:r>
          </a:p>
          <a:p>
            <a:pPr>
              <a:spcBef>
                <a:spcPts val="600"/>
              </a:spcBef>
              <a:defRPr b="1" sz="1000">
                <a:solidFill>
                  <a:srgbClr val="1B4332"/>
                </a:solidFill>
                <a:latin typeface="Arial"/>
              </a:defRPr>
            </a:pPr>
            <a:r>
              <a:t>Respectfully yours,</a:t>
            </a:r>
            <a:br/>
            <a:r>
              <a:t>[Your Name] — Conference Director, PECS 2026</a:t>
            </a:r>
          </a:p>
        </p:txBody>
      </p:sp>
    </p:spTree>
  </p:cSld>
  <p:clrMapOvr>
    <a:masterClrMapping/>
  </p:clrMapOvr>
  <p:transition spd="fast">
    <p:push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12 (PART 2) • ADMINISTRATIVE COMMUNICATION LETTERS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Letter 2: Official Keynote Speaker Invitation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84048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4AF37"/>
                </a:solidFill>
                <a:latin typeface="Arial"/>
              </a:defRPr>
            </a:pPr>
            <a:r>
              <a:t>INVITATION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B4332"/>
                </a:solidFill>
                <a:latin typeface="Arial"/>
              </a:defRPr>
            </a:pPr>
            <a:r>
              <a:t>📅 Date of Invitation: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September 2, 2026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📬 Target Honorees: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Ms. Maria Luisa A. Elduayan &amp; Felice Prudente Sta. Maria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⏱️ Session Allocation: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40-Minute Plenary Presentation + 25-Minute Interactive Q&amp;A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🎁 VIP Provision: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Private holding lounge, plated catering, formal honoraria, parking pass &amp; local token basket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✍️ Signatory Authority: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Speaker Relations Lead, PECS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71600"/>
            <a:ext cx="670529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6705295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Arial"/>
              </a:defRPr>
            </a:pPr>
            <a:r>
              <a:t>OFFICIAL INVITATION LETTER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659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B4332"/>
                </a:solidFill>
                <a:latin typeface="Georgia"/>
              </a:defRPr>
            </a:pPr>
            <a:r>
              <a:t>Dear [Speaker's Name / Esteemed Keynote Guest],</a:t>
            </a:r>
          </a:p>
          <a:p>
            <a:pPr>
              <a:spcBef>
                <a:spcPts val="4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Greetings from PHINMA University of Pangasinan!</a:t>
            </a:r>
            <a:br/>
            <a:br/>
            <a:r>
              <a:t>The College of Hospitality and Tourism Management cordially invites you to serve as a Keynote Speaker for the Pangasinan Eco-Haven &amp; Culinary Showcase 2026 (PECS 2026) Conference on Thursday, September 17, 2026, at the PHINMA-UPang Gymnasium.</a:t>
            </a:r>
          </a:p>
          <a:p>
            <a:pPr>
              <a:spcBef>
                <a:spcPts val="6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Our conference theme, “Sustaining the Coastline: Strategies for Eco-Tourism Development and Heritage Culinary Preservation in Pangasinan,” aims to equip 500+ undergraduate delegates with actionable strategies for sustainable hospitality growth. Given your distinguished expertise, we would be honored to have you deliver a 40-minute presentation followed by a 25-minute interactive Q&amp;A session.</a:t>
            </a:r>
          </a:p>
          <a:p>
            <a:pPr>
              <a:spcBef>
                <a:spcPts val="6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Dedicated VIP hospitality, honorarium, and campus parking will be provided. We look forward to confirming your participation.</a:t>
            </a:r>
            <a:br/>
            <a:br/>
            <a:r>
              <a:t>Warm regards,</a:t>
            </a:r>
            <a:br/>
            <a:r>
              <a:t>[Your Name] — Speaker Relations Lead, PECS 2026</a:t>
            </a:r>
          </a:p>
        </p:txBody>
      </p:sp>
    </p:spTree>
  </p:cSld>
  <p:clrMapOvr>
    <a:masterClrMapping/>
  </p:clrMapOvr>
  <p:transition spd="fast">
    <p:push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12 (PART 3) • ADMINISTRATIVE COMMUNICATION LETTERS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Letter 3: Student Class Excuse Authorization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84048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4AF37"/>
                </a:solidFill>
                <a:latin typeface="Arial"/>
              </a:defRPr>
            </a:pPr>
            <a:r>
              <a:t>EXCUSAL 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B4332"/>
                </a:solidFill>
                <a:latin typeface="Arial"/>
              </a:defRPr>
            </a:pPr>
            <a:r>
              <a:t>📅 Date of Notice: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September 14, 2026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📬 Recipients: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CHTM Faculty Members and Department Chairs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👥 Covered Cohort: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All participating BSHM &amp; BSTM student organizers and registered delegates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⏰ Excusal Duration: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Thursday, September 17, 2026 (7:30 AM – 1:00 PM)</a:t>
            </a:r>
          </a:p>
          <a:p>
            <a:pPr>
              <a:spcBef>
                <a:spcPts val="600"/>
              </a:spcBef>
              <a:defRPr b="1" sz="1100">
                <a:solidFill>
                  <a:srgbClr val="1B4332"/>
                </a:solidFill>
                <a:latin typeface="Arial"/>
              </a:defRPr>
            </a:pPr>
            <a:r>
              <a:t>⚖️ Academic Policy:</a:t>
            </a:r>
          </a:p>
          <a:p>
            <a:pPr>
              <a:spcBef>
                <a:spcPts val="200"/>
              </a:spcBef>
              <a:defRPr sz="1000">
                <a:solidFill>
                  <a:srgbClr val="1E2923"/>
                </a:solidFill>
                <a:latin typeface="Arial"/>
              </a:defRPr>
            </a:pPr>
            <a:r>
              <a:t>Students remain accountable for all missed lectures and course deliverables.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71600"/>
            <a:ext cx="670529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6705295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Arial"/>
              </a:defRPr>
            </a:pPr>
            <a:r>
              <a:t>OFFICIAL FACULTY TRANSMITTAL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6596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B4332"/>
                </a:solidFill>
                <a:latin typeface="Georgia"/>
              </a:defRPr>
            </a:pPr>
            <a:r>
              <a:t>Dear Professors,</a:t>
            </a:r>
          </a:p>
          <a:p>
            <a:pPr>
              <a:spcBef>
                <a:spcPts val="6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The organizing committee of PECS 2026 respectfully requests class excuse for participating BSHM and BSTM student organizers and registered delegates on Thursday, September 17, 2026, from 7:30 AM to 1:00 PM.</a:t>
            </a:r>
          </a:p>
          <a:p>
            <a:pPr>
              <a:spcBef>
                <a:spcPts val="8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These students will be actively managing conference logistics, main-stage operations, secretariat desks, and participating in session discussions at the PHINMA-UPang Gymnasium to fulfill BAM 205 course requirements. Participating students remain accountable for all academic responsibilities and missed lectures.</a:t>
            </a:r>
          </a:p>
          <a:p>
            <a:pPr>
              <a:spcBef>
                <a:spcPts val="800"/>
              </a:spcBef>
              <a:defRPr sz="1050">
                <a:solidFill>
                  <a:srgbClr val="1E2923"/>
                </a:solidFill>
                <a:latin typeface="Arial"/>
              </a:defRPr>
            </a:pPr>
            <a:r>
              <a:t>Thank you for your cooperation and support.</a:t>
            </a:r>
            <a:br/>
            <a:br/>
            <a:r>
              <a:t>Sincerely,</a:t>
            </a:r>
            <a:br/>
            <a:r>
              <a:t>[Your Name] — Conference Director, PECS 2026</a:t>
            </a:r>
          </a:p>
        </p:txBody>
      </p:sp>
    </p:spTree>
  </p:cSld>
  <p:clrMapOvr>
    <a:masterClrMapping/>
  </p:clrMapOvr>
  <p:transition spd="fast">
    <p:push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SECTION 12 (PART 4) • RISK MANAGEMENT &amp; ACADEMIC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Form 4: Parent’s / Guardian’s Official Consent 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DC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64"/>
                </a:solidFill>
                <a:latin typeface="Arial"/>
              </a:defRPr>
            </a:pPr>
            <a:r>
              <a:t>PHINMA University of Pangasinan • College of Hospitality and Tourism Management • BAM 205: MICE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86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10728655" cy="685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4AF37"/>
                </a:solidFill>
                <a:latin typeface="Arial"/>
              </a:defRPr>
            </a:pPr>
            <a:r>
              <a:t>PHINMA UNIVERSITY OF PANGASINAN • COLLEGE OF HOSPITALITY AND TOURISM MANAGEMENT</a:t>
            </a:r>
          </a:p>
          <a:p>
            <a:pPr algn="ctr">
              <a:defRPr b="1" sz="1200">
                <a:solidFill>
                  <a:srgbClr val="FFFFFF"/>
                </a:solidFill>
                <a:latin typeface="Georgia"/>
              </a:defRPr>
            </a:pPr>
            <a:r>
              <a:t>PARENT’S / GUARDIAN’S OFFICIAL CONSENT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23"/>
                </a:solidFill>
                <a:latin typeface="Arial"/>
              </a:defRPr>
            </a:pPr>
            <a:r>
              <a:t>I, _______________________________________, parent/guardian of _______________________________________,</a:t>
            </a:r>
            <a:br/>
            <a:r>
              <a:t>student of BS [HM / TM]  Year &amp; Section: ____________, hereby grant permission for my child to attend and participate in the official campus conference:</a:t>
            </a:r>
          </a:p>
          <a:p>
            <a:pPr>
              <a:spcBef>
                <a:spcPts val="400"/>
              </a:spcBef>
              <a:defRPr sz="1050" b="1">
                <a:solidFill>
                  <a:srgbClr val="1B4332"/>
                </a:solidFill>
                <a:latin typeface="Arial"/>
              </a:defRPr>
            </a:pPr>
            <a:r>
              <a:t>• Event Name: PECS 2026: Regional Conference on Sustainable Tourism &amp; Culinary Innovation</a:t>
            </a:r>
          </a:p>
          <a:p>
            <a:pPr>
              <a:spcBef>
                <a:spcPts val="400"/>
              </a:spcBef>
              <a:defRPr sz="1050" b="1">
                <a:solidFill>
                  <a:srgbClr val="1B4332"/>
                </a:solidFill>
                <a:latin typeface="Arial"/>
              </a:defRPr>
            </a:pPr>
            <a:r>
              <a:t>• Date &amp; Operational Time: September 17, 2026 | 7:00 AM – 1:00 PM (Including ingress, plenary sessions, and egress)</a:t>
            </a:r>
          </a:p>
          <a:p>
            <a:pPr>
              <a:spcBef>
                <a:spcPts val="400"/>
              </a:spcBef>
              <a:defRPr sz="1050" b="1">
                <a:solidFill>
                  <a:srgbClr val="1B4332"/>
                </a:solidFill>
                <a:latin typeface="Arial"/>
              </a:defRPr>
            </a:pPr>
            <a:r>
              <a:t>• Official Venue: PHINMA-University of Pangasinan Gymnasium, Arellano Street, Dagupan City</a:t>
            </a:r>
          </a:p>
          <a:p>
            <a:pPr>
              <a:spcBef>
                <a:spcPts val="800"/>
              </a:spcBef>
              <a:defRPr sz="1050" i="1">
                <a:solidFill>
                  <a:srgbClr val="1E2923"/>
                </a:solidFill>
                <a:latin typeface="Georgia"/>
              </a:defRPr>
            </a:pPr>
            <a:r>
              <a:t>I understand that this event fulfills academic criteria for BAM 205 (MICE) and that university safety and hall protocols will be strictly maintained by faculty supervisors.</a:t>
            </a:r>
          </a:p>
          <a:p>
            <a:br/>
            <a:pPr>
              <a:spcBef>
                <a:spcPts val="1000"/>
              </a:spcBef>
              <a:defRPr sz="1100" b="1">
                <a:solidFill>
                  <a:srgbClr val="1E2923"/>
                </a:solidFill>
                <a:latin typeface="Arial"/>
              </a:defRPr>
            </a:pPr>
            <a:r>
              <a:t>__________________________________________________               Date: ________________________</a:t>
            </a:r>
            <a:br/>
            <a:r>
              <a:t>Parent / Guardian Signature over Printed Name</a:t>
            </a:r>
          </a:p>
        </p:txBody>
      </p:sp>
    </p:spTree>
  </p:cSld>
  <p:clrMapOvr>
    <a:masterClrMapping/>
  </p:clrMapOvr>
  <p:transition spd="fast">
    <p:push dir="r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329184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Georgia"/>
              </a:defRPr>
            </a:pPr>
            <a:r>
              <a:t>Ready to Deliver an Exemplary MICE Experience</a:t>
            </a:r>
          </a:p>
          <a:p>
            <a:pPr>
              <a:spcBef>
                <a:spcPts val="400"/>
              </a:spcBef>
              <a:defRPr sz="1400">
                <a:solidFill>
                  <a:srgbClr val="F8F9FA"/>
                </a:solidFill>
                <a:latin typeface="Georgia"/>
              </a:defRPr>
            </a:pPr>
            <a:r>
              <a:t>PECS 2026 bridges academic rigor with regional hospitality excellence, empowering BAM 205 students with hands-on event execution mastery.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3108960" cy="274320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83464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🏛️ Institutional Impact</a:t>
            </a:r>
          </a:p>
          <a:p>
            <a:pPr>
              <a:spcBef>
                <a:spcPts val="600"/>
              </a:spcBef>
              <a:defRPr sz="1050">
                <a:solidFill>
                  <a:srgbClr val="F8F9FA"/>
                </a:solidFill>
                <a:latin typeface="Arial"/>
              </a:defRPr>
            </a:pPr>
            <a:r>
              <a:t>Positions PHINMA University of Pangasinan CHTM as a regional center of excellence for eco-tourism research and culinary heritage preservation.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651760"/>
            <a:ext cx="3108960" cy="274320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83464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📈 Student Learning Outcomes</a:t>
            </a:r>
          </a:p>
          <a:p>
            <a:pPr>
              <a:spcBef>
                <a:spcPts val="600"/>
              </a:spcBef>
              <a:defRPr sz="1050">
                <a:solidFill>
                  <a:srgbClr val="F8F9FA"/>
                </a:solidFill>
                <a:latin typeface="Arial"/>
              </a:defRPr>
            </a:pPr>
            <a:r>
              <a:t>Demonstrates end-to-end conference management competencies: finance, logistics, AV production, speaker hospitality, and secretariat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651760"/>
            <a:ext cx="3108960" cy="274320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83464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🤝 Community &amp; Industry Link</a:t>
            </a:r>
          </a:p>
          <a:p>
            <a:pPr>
              <a:spcBef>
                <a:spcPts val="600"/>
              </a:spcBef>
              <a:defRPr sz="1050">
                <a:solidFill>
                  <a:srgbClr val="F8F9FA"/>
                </a:solidFill>
                <a:latin typeface="Arial"/>
              </a:defRPr>
            </a:pPr>
            <a:r>
              <a:t>Creates actionable partnerships between academia, local government units (LGUs), provincial tourism leaders, and cultural authors.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Georgia"/>
              </a:defRPr>
            </a:pPr>
            <a:r>
              <a:t>Thank you! We welcome questions, recommendations, and formal approval.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